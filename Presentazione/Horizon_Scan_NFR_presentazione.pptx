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09728" cy="265176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Horizon Scan NFR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0604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100" b="0" i="0">
                <a:solidFill>
                  <a:srgbClr val="DDE6F2"/>
                </a:solidFill>
                <a:latin typeface="Calibri"/>
              </a:rPr>
              <a:t>Il sistema di agenti per i rischi non finanziari emergenti:</a:t>
            </a:r>
          </a:p>
          <a:p>
            <a:pPr>
              <a:spcAft>
                <a:spcPts val="400"/>
              </a:spcAft>
            </a:pPr>
            <a:r>
              <a:rPr sz="2100" b="0" i="0">
                <a:solidFill>
                  <a:srgbClr val="DDE6F2"/>
                </a:solidFill>
                <a:latin typeface="Calibri"/>
              </a:rPr>
              <a:t>che cosa fanno gli agenti, che cosa dicono i report, con quali parametri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C000"/>
                </a:solidFill>
                <a:latin typeface="Calibri"/>
              </a:rPr>
              <a:t>Esempi tratti dal registro della demo (ciclo straordinario 2026Q4-S1, dati simulati) · stato del pacchetto al 16/10/2026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603504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BFCFE6"/>
                </a:solidFill>
                <a:latin typeface="Calibri"/>
              </a:rPr>
              <a:t>Uso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INTRODUZIONE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Di che cosa parliamo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399032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Il sistema in breve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755648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componenti, cicli, principi, chi fa che cosa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350008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50008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33172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Gli agenti e i passi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688336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un agente per slide: che cosa fa, quando si usa, quale comando Python lo precede e lo segue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82696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82696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64408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Le schede dei rischi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21024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a che cosa servono, come sono impostate, il significato di ogni informazione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15384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15384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97096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Il report trimestrale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53712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dal Quadro d'insieme a ogni foglio del registro Excel: uso e significato di ogni dato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148072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48072"/>
            <a:ext cx="685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129784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1F3864"/>
                </a:solidFill>
                <a:latin typeface="Calibri"/>
              </a:rPr>
              <a:t>I parametri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486400"/>
            <a:ext cx="9875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gerarchia di rischio, scale, pesi, soglie, urgenza, livello di allerta, valori ammessi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Il sistema in breve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Componenti, ritmi di lavoro, principi.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1 · IL SISTEMA IN BREVE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sistema in una pagina: tre ritmi di lavoro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Ogni lunedì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1600200"/>
            <a:ext cx="193852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raccogli_notizie.py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notizie dai feed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60020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1600200"/>
            <a:ext cx="193852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A3 Interim Update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valuta le notizie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68879" y="1929384"/>
            <a:ext cx="301753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0640" y="160020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1600200"/>
            <a:ext cx="193852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settimanale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scrive il NewsLog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00600" y="1929384"/>
            <a:ext cx="301752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59" y="160020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88935" y="1600200"/>
            <a:ext cx="1938528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valida (facoltativa)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il validatore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32319" y="1929384"/>
            <a:ext cx="301752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246888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Ogni trimestre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baseline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fotografia + allegato di A1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79776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A1 Horizon Scanner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valuta i rischi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41448" y="320954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precontrollo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facoltativo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27448" y="320954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15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5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A5 Challenger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facoltativo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13448" y="320954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601200" y="288036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88036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trimestrale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controlla e scrive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99448" y="320954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57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776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Validazione + valida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accetta, rettifica, respinge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9776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schede-input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dati validati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441448" y="416966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029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65776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A6 Schede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testi per chi legge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727448" y="416966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315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51775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schede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Schede_&lt;ciclo&gt;.xlsx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13448" y="416966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601200" y="384048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37776" y="384048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report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PDF al comitato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99448" y="4169664"/>
            <a:ext cx="28346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122408" y="3538728"/>
            <a:ext cx="0" cy="118872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435608" y="3657600"/>
            <a:ext cx="868680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35608" y="3657600"/>
            <a:ext cx="0" cy="164591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7200" y="46177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Quando serve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3776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A4 News Assessor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parere su una notizia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79776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A7 Assistente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il perché in chat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5776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A8 Evento critico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ciclo straordinario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51775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riapri · dismetti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correzioni e uscite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01200" y="5029200"/>
            <a:ext cx="1965960" cy="658368"/>
          </a:xfrm>
          <a:prstGeom prst="roundRect">
            <a:avLst>
              <a:gd name="adj" fmla="val 1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37776" y="5029200"/>
            <a:ext cx="1892807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celle gialle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presidio, owner, supervisore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943600"/>
            <a:ext cx="320040" cy="27432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3776" y="5943600"/>
            <a:ext cx="246887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64" name="TextBox 63"/>
          <p:cNvSpPr txBox="1"/>
          <p:nvPr/>
        </p:nvSpPr>
        <p:spPr>
          <a:xfrm>
            <a:off x="841248" y="5916168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Agente Copilot (giudizio, testi)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06240" y="5943600"/>
            <a:ext cx="320040" cy="274320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42816" y="5943600"/>
            <a:ext cx="246887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67" name="TextBox 66"/>
          <p:cNvSpPr txBox="1"/>
          <p:nvPr/>
        </p:nvSpPr>
        <p:spPr>
          <a:xfrm>
            <a:off x="4590288" y="5916168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Comando Python (controlli, scrittura, calcolo)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55279" y="5943600"/>
            <a:ext cx="320040" cy="274320"/>
          </a:xfrm>
          <a:prstGeom prst="roundRect">
            <a:avLst>
              <a:gd name="adj" fmla="val 12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91855" y="5943600"/>
            <a:ext cx="246887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</a:p>
        </p:txBody>
      </p:sp>
      <p:sp>
        <p:nvSpPr>
          <p:cNvPr id="70" name="TextBox 69"/>
          <p:cNvSpPr txBox="1"/>
          <p:nvPr/>
        </p:nvSpPr>
        <p:spPr>
          <a:xfrm>
            <a:off x="8339327" y="5916168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Persona (decisione)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1 · IL SISTEMA IN BREVE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Sette principi che reggono tutto il disegno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69748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2984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Giudizio all'agente, calcolo al codice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82495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Gli agenti danno valori 1-5, fonti e testi. Score, esito, urgenza e livello di allerta li calcola il foglio: una media fatta a mente sbaglia in modo plausibile.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801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280160"/>
            <a:ext cx="269748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12984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La storia non si riscrive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82495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RiskRegister, Azioni, KRI e NewsLog crescono solo in coda: una riga per soggetto per ciclo. Ogni ciclo lascia un Excel congelato in archivio.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280160"/>
            <a:ext cx="269748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2" y="12984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Solo un ciclo cambia uno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682495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Il trimestrale, o lo straordinario deciso dalla funzione di rischio. Le notizie settimanali danno segnali, mai variazioni.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2801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280160"/>
            <a:ext cx="269748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34272" y="12984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Ogni regola ha un controllo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82495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Dove un vincolo si può scrivere come regola, lo verifica lo script; il giudizio resta ad A5 (facoltativo) e al validatore.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7947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269748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8130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Una persona valida sempre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197096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Nessuna valutazione vale finché il validatore non la accetta, la rettifica o la respinge. Il trimestre dopo non parte prima.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0" y="37947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91840" y="3794760"/>
            <a:ext cx="269748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64992" y="38130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La proposta resta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197096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Ogni rettifica conserva proposta dell'agente, valore deciso, motivazione, chi e quando: è la traccia di audit e la base per migliorare gli agenti.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794760"/>
            <a:ext cx="26974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794760"/>
            <a:ext cx="269748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3813048"/>
            <a:ext cx="255117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Una regola, un posto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4197096"/>
            <a:ext cx="25146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Scale, tassonomia, fonti e colonne vivono in un solo file; prompt, Excel e controlli ne derivano e il collaudo verifica che siano allineati.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1 · IL SISTEMA IN BREVE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Chi fa che cosa: agenti, Python, Excel, persone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7455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249"/>
                <a:gridCol w="5683107"/>
                <a:gridCol w="348319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Che cosa fa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Che cosa NON fa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Agenti Copilot</a:t>
                      </a:r>
                    </a:p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(A1, A3, A4, A5, A6, A7, A8)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Leggono documenti, notizie e siti; danno i valori 1-5 con le fonti; scrivono razionali, azioni, KRI, sintesi; rispondono in chat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Non scrivono in Excel, non salvano file, non calcolano score né urgenza, non decidono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Script Python sul PC</a:t>
                      </a:r>
                    </a:p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(esegui_ciclo_locale.py, raccogli_notizie.py)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Prepara gli allegati per gli agenti; controlla schema e regole (FERMATO se un difetto renderebbe incoerente il registro); fa il backup, scrive, ricalcola Excel, archivia; applica la regola del radar; produce schede e PDF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Non giudica la plausibilità dei valori (controllo C4): è giudizio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Registro Excel</a:t>
                      </a:r>
                    </a:p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(NFR_Registro.xlsx)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Conserva la storia; calcola con le formule score composito, Δ, urgenza di Mosca, livello di allerta, stato dei KRI, segnali netti; mostra report e viste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Nessuna costante nascosta: pesi e soglie sono celle gialle di Parametri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Persone</a:t>
                      </a:r>
                    </a:p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(analista, validatore, funzione di rischio)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L'analista lancia agenti e comandi; il validatore decide ogni proposta nella griglia; la funzione di rischio fissa parametri, decide gli straordinari e le dismissioni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Gli agenti e i passi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Che cosa fa ogni agente quando viene usato,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e quale comando Python lo precede e lo segue.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Gli agenti in una tabella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49" cy="3529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597"/>
                <a:gridCol w="3666520"/>
                <a:gridCol w="1374945"/>
                <a:gridCol w="2658227"/>
                <a:gridCol w="18332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Agente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Mansione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Quando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Che cosa gli si dà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Che cosa restituisce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A1 Horizon Scanner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valuta i rischi, censisce i nuovi, propone azioni e due KRI per rischio del radar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ogni trimestre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allegato Input_A1_&lt;ciclo&gt;.txt; legge da solo cartelle e siti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A1_&lt;ciclo&gt;.json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A3 Interim Update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collega le notizie della settimana ai rischi, intensità sulle nove categorie, flag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ogni lunedì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niente: legge News_Inbox, siti e baseline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A3_&lt;lunedì&gt;.json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A4 News Assessor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parere su UNA notizia rispetto al registro, senza numeri nuovi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su richiesta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la notizia (testo, link, file)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parere in sei sezioni, in chat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A5 Challenger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nove controlli C1-C9 sull'output di A1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trimestre, facoltativo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A1_&lt;ciclo&gt;.json e Baseline_corrente.json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A5_&lt;ciclo&gt;.json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A6 Schede dei rischi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testi delle schede sui dati validati, per chi non conosce il tema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dopo la validazione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solo Schede_input_&lt;ciclo&gt;.json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A6_&lt;ciclo&gt;.json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A7 Assistente del registro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spiega il perché di valori, urgenza, livello, temi non censiti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su richiesta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niente: legge Kernel\Spiegazioni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risposte in chat; sintesi per il Quadro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A8 Evento critico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analisi dell'evento, rivaluta i rischi indicati, censisce i nuovi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ciclo straordinario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allegato Input_A1_&lt;AAAAQn-Sk&gt;.txt e documenti dell'evento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JSON → A8_&lt;AAAAQn-Sk&gt;.json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Regole per tutti: il messaggio aggiunge indicazioni per quella volta, non cambia le regole dell'agente; per rifare una valutazione si apre una chat nuova; gli agenti JSON rispondono solo con il JSON. Ogni prompt sta nel limite di 8.000 caratteri di Agent Builder.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A1 Horizon Scanner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Il cuore del trimestre: la valutazione dei rischi, con le fonti e il perché di ogni numero.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Valuta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ogni rischio del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Impatto, Probabilità, Prossimità (1-5) e Velocity solo se le fonti ne documentano i tempi; stima gli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anni di adeguamento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strutturale quando servono.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Rivaluta 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rischi in osservazione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quando trova evidenza nuova;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censisce i rischi nuovi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anche lontani (con orizzonte e segnale di avvicinamento).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ogni valore cita 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fonti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(data, tipo Interna/Esterna, rilevanza 1-3) e scrive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razionale in parti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RISCHIO, IMPATTO, PROBABILITA, PROSSIMITA, VELOCITY, ADEGUAMENTO.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i rischi del radar propone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1-5 azioni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(owner = funzione, orizzonte 3/6/12 mesi)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due 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(esposizione ed evoluzione), con il perché e l'EFFETTO atteso;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rilegge i valori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KRI del ciclo prima.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Registra 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fenomeni considerati e non censiti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con il motivo; scrive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commento per il comitato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(MESSAGGIO / DECISIONI).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Prima di rispondere verifica il proprio output con i controlli C1-C9 e la guida di scrittura contenuti nell'allegato.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Chat nuova, allegato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Input_A1_&lt;ciclo&gt;.txt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messaggio «Esegui il ciclo».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Variazioni: rinforzato (leggere tutte le cartelle), documenti precisi, tema da verificare, fenomeno da osservare, simulazione di un ciclo passato, correzione.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Prima: baseline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Baseline_corrente.json e allegato (baseline + controlli + guida di scrittura).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Dopo: precontrollo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(facoltativo, senza Excel) →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controlli, backup, scrittura, ricalcolo, regola del radar, archivio, knowledge di A7.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 FERMATO: si incolla ad A1 il file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Correzione_A1_&lt;ciclo&gt;.txt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si rilancia.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Poi la validazione e il comando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calcola score, esito (Nuovo/Variato/Confermato), urgenza né livello; non muove un valore di più di un punto; non cambia senza un'evidenza datata.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Precontrollo e scrittura (A2): i passi Python del trimestre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Non sono agenti: sono il codice che si mette fra la risposta di A1 e il registro.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precontrollo (facoltativo, pochi secondi, non scrive nulla)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Schema JSON dell'output, controlli meccanizzati C1, C2, C3, C5, C7, C9 (con le osservazioni di C5, C6, C8) e parti del razionale.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Divide i rilievi in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da correggere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(fermerebbero il ciclo)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da verificare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(andranno in validazione).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Scrive il messaggio di correzione per A1 e l'impronta dell'output (serve alla prova di Copilot Studio).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trimestrale (la scrittura, detta A2)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Rifà gli stessi controlli: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FERMATO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solo per i difetti di integrità (schema, C1 rischio mancante o categoria diversa, C2 variazioni che non tornano, C7 e identificativi dei KRI).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C3, date di C5, coppia e soglie dei KRI (C9) e i Bloccanti di A5 diventano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segnalazioni da motivare ⚑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nella griglia di validazione.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Calcola esito e «da → a» delle variazioni, assegna gli ID di KRI e azioni, applica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regola del registro unico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(radar o osservazione).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Backup, scrittura, ricalcolo di Excel, verifica zero errori di formula, Excel congelato del ciclo, cartella Spiegazioni per A7.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Dopo A1 (e A5 se usato):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python esegui_ciclo_locale.py precontrollo --payload A1_&lt;ciclo&gt;.json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python esegui_ciclo_locale.py trimestrale --payload A1_&lt;ciclo&gt;.json [--challenger A5_&lt;ciclo&gt;.json]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Codici di uscita: 0 eseguito; 1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FERMATO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(registro non toccato, si corregge e si rilancia); 2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ERRORE TECNICO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(il messaggio dice se prima o dopo il salvataggio).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Il registro deve essere chiuso: Excel lavora invisibile.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Il trimestre non parte se quello prima non è validato.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giudica la plausibilità dei valori (C4): la giudicano A5, se usato, e il validatore.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A5 Challenger (facoltativo)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Un secondo agente che controlla A1 con nove controlli, su un input ristretto.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C1 Completezza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ogni rischio del radar valutato, stessa categoria, nessun ID ripetuto.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C2 Variazioni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una voce per ogni valore cambiato, e solo per quelli.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C3 Evidenza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data dopo il ciclo prima e non dopo la data di riferimento; evidenza specifica; al massimo un punto.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C4 Plausibilità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 punteggi corrispondono ai descrittori dati razionale e fonti; un rischio = un meccanismo (solo giudizio: nessun codice lo sostituisce).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C5 Fonti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rilevanza coerente; P5 o Prossimità 4-5 con una fonte di rilevanza alta; nessuna fonte futura.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C6 Deriva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aumenti dallo stesso fatto ripetuto o su più di metà dei rischi senza fonti nuove.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C7 Rilettura 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C8 Azioni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(owner = funzione, pertinente, non ripetuta)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C9 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(coppia esposizione/evoluzione, soglie, fonte dati).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Esito Approvato o Da rivedere, con i rilievi Bloccante / Osservazione.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Dopo A1, chat nuova, allegati SOLO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A1_&lt;ciclo&gt;.json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Baseline_corrente.json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«Esegui i nove controlli».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 rifatto ogni volta che A1 viene rifatto; mai per le settimane.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Prima: (facoltativo)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precontrollo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che segnala già la parte meccanizzabile.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Dopo: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 --challenger A5_&lt;ciclo&gt;.json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i rilievi vanno nella colonna Segnalazioni della griglia; un Bloccante rende obbligatoria la Motivazione.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La sintesi di A5 compare nel Quadro e in Sintesi_Cicli.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ferma il ciclo (D-71): i suoi rilievi li decide il validatore. Non corregge A1.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A3 Interim Update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Ogni lunedì: le notizie della settimana lette contro il registro, senza toccare gli score.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Prende le notizie degli ultimi 7 giorni da tre canali: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News_Inbox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(feed raccolti e file Manuali),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siti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pubblici dell'agente, cartelle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Analisi_Interne / Esterne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Più articoli sullo stesso fatto =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una notizia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codice fonte del catalogo (FNT-nn) o MAN.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ogni notizia: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intensità 0-3 su tutte e nove le categorie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direzione (Peggiorativo, Migliorativo, Neutro, Non rilevante).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Rischio collegato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del radar o in osservazione; nessuno → possibile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area non presidiata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Flag proposti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quando un descrittore potrebbe non essere più quello vigente (o un rischio in osservazione realizza il suo segnale).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Proposta di ciclo straordinario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solo con la regola del segnale critico.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Sintesi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settimana: notizie rilevanti, aree non presidiate, direzioni per categoria.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Chat nuova, allegato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Input_A3.txt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(la baseline): «Esegui l'aggiornamento settimanale». Senza allegato: «Baseline mancante».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Variazioni: correzione dopo un fermo, insistere su un rischio.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Prima: raccogli_notizie.py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(lunedì alle 7, Utilità di pianificazione) → News_Inbox\&lt;lunedì&gt;\Raccolta_&lt;data&gt;.txt; a mano i file in Manuali.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Dopo: settimanale --payload A3_&lt;lunedì&gt;.json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NewsLog senza duplicati, Sintesi_Settimane, segnali netti, aree non presidiate, proposta di straordinario a video.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Facoltativa: validazione delle notizie (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 --periodo &lt;lunedì&gt;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cambia score, non propone numeri, non decide lo straordinario: lo propone.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A4 News Assessor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Su richiesta di un analista: un parere su una sola notizia, ancorato alla valutazione deliberata.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Risponde sempre con sei sezioni, in quest'ordine: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1. Il fatto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due o tre frasi, con fonte e data.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2. Impatto sulle nove categorie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tabella con intensità 0-3, direzione e motivazione per ognuna.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3. Rischi del registro toccati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ID, nome, score vigenti, quale descrittore la notizia mette in discussione; altrimenti «Area non presidiata».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4. Coerenza con la valutazione deliberata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conferma, indebolisce o non tocca (un segnale non è una tendenza).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5. Cosa suggerisco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verifiche per la funzione di rischio; in testa «PROPOSTA DI CICLO STRAORDINARIO» se vale la regola del segnale critico.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6. Limiti del parere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— che cosa non sa, quali fonti mancano.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Distingue il fatto dalla propria interpretazione; non nomina persone.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Allegato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Input_A4.txt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(la baseline) e la notizia: «Dammi il parere su questa notizia: [testo o link]».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Variazioni: rispetto a un rischio preciso [NFR-nn]; con attenzione a una categoria [9.n].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Nessun passo Python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il parere resta in chat, non entra nel registro.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 la notizia è rilevante deve entrare nel prossimo aggiornamento settimanale (A3 + settimanale).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 propone uno straordinario: decide la funzione di rischio, poi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baseline --straordinario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A8.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Mai una cifra nuova: niente score, stime di perdita o probabilità numeriche. Non scrive nel registro.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A6 Schede dei rischi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Dopo la validazione: rende le schede leggibili a chi non conosce il tema, senza aggiungere numeri.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Riceve 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dati validati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 ciclo (valori, fonti, razionale in parti di A1, azioni, KRI, urgenza, storia).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Scrive per ogni rischio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descrizione estesa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il fenomeno in termini di rischio (causa → evento → danno).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Spiega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ogni dimensione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perché quel valore, con i fatti e i documenti.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Dice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 che cosa serve ogni fonte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(«a sostegno di»).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Non valuta: spiega i valori che il validatore ha già deciso.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Senza A6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 schede escono lo stesso con i testi di A1 dal registro (il razionale è già diviso in parti, D-68): A6 è un miglioramento della leggibilità, non un passo obbligato.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Agente A6, allegato SOLO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Schede_input_&lt;ciclo&gt;.json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«Scrivi le schede».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Variazione: correzione dopo un fermo del comando schede.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Prima: schede-input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Schede_input_&lt;ciclo&gt;.json (si ferma se il ciclo non è validato).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Dopo: schede --payload A6_&lt;ciclo&gt;.json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controlla stessi rischi, quattro dimensioni, stesse fonti,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nessun numero fuori dai dati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; poi produce Schede_&lt;ciclo&gt;.xlsx.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Senza A6: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schede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senza payload.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cambia valori, fonti o urgenza; un numero che non sta nei dati del rischio ferma il comando.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A7 Assistente del registro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In chat, quando serve: il perché delle valutazioni, distinguendo registrato, calcolato e letto.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Risponde a domande come: perché NFR-01 è primo? perché ha Prossimità 5, da quale documento? perché è AGIRE ORA? perché Attenzione e non Attivazione? che cosa ha cambiato il validatore? perché il tema X non è un rischio? perché NFR-14 è in osservazione?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Tiene separati: ciò che è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registrato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(motivazioni di A1, decisioni del validatore), ciò che è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calcolato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(score, urgenza, livello) 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sua lettura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documenti.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i temi non censiti usa i «fenomeni considerati e non censiti» di A1 e i rischi in osservazione.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A richiesta scrive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sintesi per il Quadro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(al massimo 600 caratteri) da incollare nella cella gialla Note dell'analista.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Variazioni: «spiegamelo come a un membro del comitato, in cinque righe»; confronto fra due rischi.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Nessun allegato, nessun messaggio fisso: si fanno domande.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Legge la cartella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Kernel\Spiegazioni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Ciclo.txt e Rischio_01..20.txt, sempre con gli stessi nomi.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I file della knowledge li riscrivono da soli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dismetti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nessun comando dedicato.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La nota incollata nel Quadro va nel PDF del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report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; al ciclo dopo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la archivia in Sintesi_Cicli.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propone valori nuovi e non modifica nulla (D-76): i valori si cambiano con riapri + valida, i testi a mano.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A8 Evento critico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Nel ciclo straordinario deciso dalla funzione di rischio: un evento che non può aspettare il trimestre.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760720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76072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572768"/>
            <a:ext cx="56144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quando viene usato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56816"/>
            <a:ext cx="5577840" cy="4343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Legge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per intero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 documenti dell'evento e scrive l'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analisi dell'evento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fatto, catena causale, rischi toccati e non toccati, documenti, limiti.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Rivaluta solo i rischi indicati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dalla funzione di rischio, con le stesse regole di A1 (al massimo un punto rispetto al periodo validato prima, evidenza datata).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Censisce i rischi nuovi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che l'evento crea; senza rischi indicati lo straordinario è di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solo censimento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Rilegge i valori dei KRI dei rischi rivalutati.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 rischio vicino che l'evento tocca ma non è indicato lo segnala al validatore: non lo riscrive.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Il periodo si chiama come il trimestre chiuso più -S1, -S2… (es. 2026Q4-S1) e conta come ciclo: il trimestre dopo parte dai suoi valori.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30952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53309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57276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Quando e come si 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5148072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Chat nuova, allegato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Input_A1_&lt;AAAAQn-Sk&gt;.txt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i documenti dell'evento: «Esegui il ciclo straordinario».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Lo propongono A3 o A4 (segnale critico) o l'analista; decide la funzione di rischio.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5330952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246120"/>
            <a:ext cx="533095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6440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Passi Python prima e dopo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48456"/>
            <a:ext cx="5148072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Prima: baseline --straordinario --rischi NFR-.. --motivo "…" --decisore "…"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→ decisione archiviata e allegato.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Dopo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precontrollo (facoltativo),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trimestrale --payload A8_&lt;…&gt;.json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validazione e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; poi schede e report come nel trimestre.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L'analisi dell'evento va in Sintesi_Cicli (il fatto) e nella knowledge di A7.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394960"/>
            <a:ext cx="53309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5394960"/>
            <a:ext cx="5330952" cy="32918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413248"/>
            <a:ext cx="518464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non 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797296"/>
            <a:ext cx="5148072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Non sceglie quali rischi rivalutare; l'analisi dell'evento spiega, non porta valori.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 comandi Python, uno per azione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50" cy="4858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901"/>
                <a:gridCol w="2474901"/>
                <a:gridCol w="6324748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Comando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Quando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Che cosa fa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raccogli_notizie.py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ogni lunedì (automatico)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scarica i feed delle fonti approvate in News_Inbox\&lt;lunedì&gt;\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baseline [--straordinario]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inizio trimestre / straordinario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fotografia del registro validato + allegati: di A1 (baseline, controlli, guida), di A3 e A4 (baseline)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precontrollo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A1, facoltativo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controlli senza Excel, messaggio di correzione per A1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trimestrale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A1 (e A5)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controlla, scrive il ciclo, regola del radar, archivio, knowledge di A7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settimanale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A3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scrive le notizie, segnali netti, sintesi della settimana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valida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la griglia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applica le decisioni del validatore, Storico_Validazioni; rigenera il report al comitato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griglia · riapri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quando serve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ricostruisce il foglio Validazione · riapre un ciclo già validato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schede-input · schede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la validazione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dati per A6 · controlli su A6 e Schede_&lt;ciclo&gt;.xlsx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report [--con-lavoro]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la validazione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PDF del report al comitato dall'Excel com'è ora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dismetti · sblocca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decisione della funzione di rischio · lucchetto rimasto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toglie un rischio, la storia resta · toglie il lucchetto e lo registra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inizializza · aggiorna-registro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primo uso · pacchetto nuovo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registro vuoto · porta il registro sul template nuovo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diagnosi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dopo la validazione, quando serve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solo lettura: valori dei rischi nuovi, verso delle rettifiche, rischi lontani senza anni di adeguamento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184392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Ogni scrittura: lucchetto (più analisti), controlli, copia di lavoro, ricalcolo e verifica in Excel, registro sostituito solo se nessuno l'ha cambiato nel frattempo; backup e archivio.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L'app NFR: un doppio clic, il prossimo passo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18</a:t>
            </a:r>
          </a:p>
        </p:txBody>
      </p:sp>
      <p:pic>
        <p:nvPicPr>
          <p:cNvPr id="7" name="Picture 6" descr="_app_finestra_0_0_1_0.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234440"/>
            <a:ext cx="7223760" cy="2279999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457200" y="3651599"/>
            <a:ext cx="7223760" cy="3023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651599"/>
            <a:ext cx="72237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3669887"/>
            <a:ext cx="70774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fa (e che cosa no)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53935"/>
            <a:ext cx="7040880" cy="2566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Stato e prossimo passo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letti dall'archivio condiviso: uguali per tutti i colleghi.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 pulsante per processo: settimana, trimestre, straordinario, validazione, schede, report, riapertura…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Lancia i comandi Python nell'ordine giusto e mostra l'esito (OK, FERMATO, ERRORE TECNICO).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Non decide niente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controlli e scrittura restano allo script, le decisioni al validatore.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0" y="1234440"/>
            <a:ext cx="3822191" cy="54406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09560" y="1234440"/>
            <a:ext cx="3822191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82712" y="1252728"/>
            <a:ext cx="3675887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Con un agente: tre gesti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1636776"/>
            <a:ext cx="3639311" cy="4983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L'app prepara gli allegati, apre l'agente e mette la richiesta negli appunti. Tu: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chat nuova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trascini i file, incolli la richiesta;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copi la risposta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la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incolli nell'app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(o premi Copia: l'app la prende da sola);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se serve una correzione, il messaggio è già negli appunti: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stessa chat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L'app salva il JSON con il nome giusto in In_arrivo e passa al passo dopo.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Calibri"/>
              </a:rPr>
              <a:t>Agenti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Agent Builder o Copilot Studio: stessi file, stesso registro, origine annotata.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Calibri"/>
              </a:rPr>
              <a:t>Più analisti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Lucchetto e copia di lavoro: il registro si sostituisce solo se nessuno l'ha cambiato.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2 · GLI AGENTI E I PASSI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trimestre passo per passo: chi fa che cosa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7040880" cy="3867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280160"/>
                <a:gridCol w="53949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Passo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analista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Registro, riga 4: il trimestre prima è «Ciclo validato»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baseline → Input_A1_&lt;ciclo&gt;.txt, Input_A3.txt, Input_A4.txt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niente da copiare nel Kernel: A3 e A4 hanno l'allegato (AU7)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A1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«Esegui il ciclo» con l'allegato → A1_&lt;ciclo&gt;.json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 · A5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precontrollo e A5, entrambi facoltativi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trimestrale → ciclo scritto (o FERMATO + correzione)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validatore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griglia del foglio Validazione, poi valida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 · A6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schede-input, A6, schede → Schede_&lt;ciclo&gt;.xlsx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report → Report_comitato_&lt;ciclo&gt;.pdf (lo fa già valida)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26679" y="1234440"/>
            <a:ext cx="400507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234440"/>
            <a:ext cx="4005072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99831" y="1252728"/>
            <a:ext cx="385876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Ogni lunedì (≈ 20 minuti)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19" y="1636776"/>
            <a:ext cx="3822191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raccogli_notizie.py (automatico alle 7)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file a mano in Manuali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A3 con Input_A3.txt → A3_&lt;lunedì&gt;.json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settimanale → notizie nel registro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facoltativo: valida le notizie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Nessuno score cambia di settimana in settimana.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3749039"/>
            <a:ext cx="400507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3749039"/>
            <a:ext cx="4005072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1" y="3767327"/>
            <a:ext cx="3858768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Ciclo straordinario (D-75, D-77)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19" y="4151376"/>
            <a:ext cx="3822191" cy="2148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deciso dalla funzione di rischio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baseline --straordinario con rischi, motivo, decisore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A8 con i documenti dell'evento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trimestrale, validazione, schede, report come nel trimestre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Rivaluta solo i rischi indicati; gli altri restano validati.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Le schede dei rischi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Un file a parte, Schede_&lt;ciclo&gt;.xlsx: una scheda per ogni rischio del radar,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con il perché di ogni numero.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 che cosa servono le schede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65760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6576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298448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Per chi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82495"/>
            <a:ext cx="347472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Comitato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allegato al report, spiega i rischi uno per uno.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Owner del rischio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che cosa si chiede alla sua funzione (azioni, KRI, scadenze) e perché.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Validatore e audit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su quali documenti poggia ogni valore.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Chi non conosce il tema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il fenomeno raccontato in termini di rischio, senza gergo.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Il ciclo dopo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la memoria del perché, quando i valori cambiano.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280160"/>
            <a:ext cx="365760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0248" y="1280160"/>
            <a:ext cx="365760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298448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cosa garantiscono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1682495"/>
            <a:ext cx="347472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Solo valori validati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si producono dopo la validazione, dal registro.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Numeri, fonti e urgenza vengono dal registro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nessun agente li cambia.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Con A6, il comando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schede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controlla stessi rischi, quattro dimensioni, stesse fonti 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nessun numero fuori dai dati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Ogni punteggio ha accanto il suo perché e i documenti (D-68).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Ogni azione e ogni KRI hanno il perché e l'effetto atteso.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3296" y="1280160"/>
            <a:ext cx="365760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280160"/>
            <a:ext cx="3657600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298448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Come si producono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1682495"/>
            <a:ext cx="347472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schede-input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→ dati validati per A6.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A6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scrive i testi (facoltativo).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schede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controlla e produce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Schede_&lt;ciclo&gt;.xlsx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in Archivio_Cicli\Cicli\&lt;ciclo&gt;.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Un foglio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Indice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e un foglio per rischio, nell'ordine della classifica (score composito).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Pronte per la stampa: A4 verticale, intestazione «Uso interno», pagine numerate.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Senza A6: testi di A1 dal registro.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L'indice delle schede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22</a:t>
            </a:r>
          </a:p>
        </p:txBody>
      </p:sp>
      <p:pic>
        <p:nvPicPr>
          <p:cNvPr id="7" name="Picture 6" descr="Schede_Ind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7315200" cy="3616193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001000" y="1188720"/>
            <a:ext cx="3749039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Una riga per rischio, dal più alto per score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#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posizione in classifica.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ID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collegamento alla scheda (clic).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nome breve;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◆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tema all'attenzione del supervisore.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Score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composito 1-5 validato.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Urgenza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Mosca: AGIRE ORA (rosso), Entro l'anno (ambra), Margine n anni (grigio).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Livello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allerta: Attivazione, Attenzione, Monitoraggio.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Esito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 ciclo: Nuovo, Variato, Confermato.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Owner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la funzione responsabile.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In testa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Ciclo, data dei dati, stato di validazione, origine dei testi (A6 o A1).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In fondo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La legenda di tutte le abbreviazioni.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Com'è impostata una scheda: dall'alto in basso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23</a:t>
            </a:r>
          </a:p>
        </p:txBody>
      </p:sp>
      <p:pic>
        <p:nvPicPr>
          <p:cNvPr id="7" name="Picture 6" descr="Scheda_NFR0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4023360" cy="508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Scheda_NFR0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3833172" cy="283464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1546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Pagina 1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1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Intestazione: posizione, ID, nome, score, variazione, urgenza, livello.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2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Classificazione: categoria, driver, owner, presidio, ◆, esito.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3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Il rischio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4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Razionale.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5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Valutazione dimensione per dimensione, con la formula dello score.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6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Urgenza e livello di allerta.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7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Cosa è cambiato nel ciclo.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8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Andamento negli ultimi trimestri.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9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Fonti.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Pagina 2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10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Azioni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11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KRI in vigore, ognuno con perché ed effetto atteso.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12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Legenda.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160520"/>
            <a:ext cx="38404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Esempio: NFR-01 «Frodi su pagamenti istantanei abilitate da AI generativa», ciclo straordinario 2026Q4-S1, testi di A1 (senza A6). Lo stesso ordine vale per tutte le schede: chi legge sa sempre dove trovare un'informazione.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Intestazione e classificazione: che cosa significa ogni dato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51" cy="4855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12"/>
                <a:gridCol w="4766477"/>
                <a:gridCol w="430816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Informazione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Che cosa significa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Perché è importante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Posizione · ID · Nome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ordine per score composito; codice stabile NFR-nn, uguale in tutti i cicli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si ritrova lo stesso rischio in classifica, radar, registro e storia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Score composito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media pesata delle dimensioni valutate, 1-5 (5 = peggiore)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la priorità: quanto è grande il rischio nel complesso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Variazione ▲ ▼ ● / nuovo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differenza di score rispetto al ciclo prima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dice subito se il rischio sale, scende o è fermo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Urgenza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esito della disuguaglianza di Mosca: AGIRE ORA, Entro l'anno, Margine n anni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quanto presto agire, indipendente dalla grandezza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Livello di allerta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Attivazione, Attenzione, Monitoraggio, calcolato dal registro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che cosa si fa adesso: comitato con un piano, verifica dell'owner, ciclo 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Categoria · Driver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categoria della tassonomia interna (9.x) · perché oggi è emergente (DRV-…)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dove ricade la perdita e che cosa la alimenta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Owner · Presidio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funzione responsabile · giudizio della Banca sui controlli (Adeguato, Parziale, Assente, Non verificato)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chi risponde; il presidio non entra nello score ma pesa sul livello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◆ Attenzione del supervisore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tema nelle priorità di BCE, EBA o Banca d'Italia, indicato dal validatore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porta il rischio nel radar anche sotto le soglie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Esito · validato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Nuovo, Variato (cambia una dimensione) o Confermato, calcolato dallo script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cosa è successo nel ciclo; i valori sono quelli validati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rischio, il razionale e la valutazione dimensione per dimensione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25</a:t>
            </a:r>
          </a:p>
        </p:txBody>
      </p:sp>
      <p:pic>
        <p:nvPicPr>
          <p:cNvPr id="7" name="Picture 6" descr="_Scheda_NFR01_1_0_0.08_1_0.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669280" cy="2863272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355080" y="1188720"/>
            <a:ext cx="539496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Il rischio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Il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meccanismo di perdita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che cosa succede, a chi, con quale danno. Con A6 diventa la descrizione estesa.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Razionale: il fenomeno in termini di rischio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La parte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RISCHIO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del razionale di A1: causa → evento → danno per la Banca. Fa capire perché è un rischio della Banca e non solo una notizia.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Valutazione, dimensione per dimensione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Una riga per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Impatto, Probabilità, Prossimità, Velocity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il valore validato (colore più scuro = peggiore; n.v. = non valutata) e, accanto,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perché quel valore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, con i fatti e i documenti.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Sotto, in corsivo,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la formula dello score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con i pesi in vigore (es. 4,65 = (0,35×4 + 0,25×5 + 0,20×5 + 0,20×5) / 1,00); senza Velocity i pesi si ridistribuiscono.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Importanza: chi legge può verificare ogni numero contro la rubrica e i documenti, senza fidarsi dell'agente.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Urgenza, livello di allerta, cambiamenti e andamento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26</a:t>
            </a:r>
          </a:p>
        </p:txBody>
      </p:sp>
      <p:pic>
        <p:nvPicPr>
          <p:cNvPr id="7" name="Picture 6" descr="_Scheda_NFR01_1_0_0.36_1_0.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669280" cy="3004233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355080" y="1188720"/>
            <a:ext cx="539496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Urgenza (Mosca) e livello di allerta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Livello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con il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motivo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(es. «AGIRE ORA; KRI in rosso»): fondo rosso, giallo o verde.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Il conto di Mosca per esteso: tempo necessario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X + Y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(decidere + mitigare, con gli eventuali anni di adeguamento) contro tempo disponibile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Z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(dalla Prossimità);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margine Z − (X + Y)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 Se negativo: AGIRE ORA.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Cosa è cambiato nel ciclo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Per ogni valore cambiato: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da → 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, l'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evidenza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e la sua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data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; altrimenti «confermato sulle fonti del ciclo precedente».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Andamento negli ultimi trimestri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Le quattro dimensioni e lo score per ciclo (straordinari compresi) e il grafico dello score su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scala fissa 1-5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Importanza: si vede se un'urgenza viene dalla vicinanza (Z piccolo) o dalla lentezza della mitigazione (Y grande), e se il rischio cresce nel tempo.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Fonti, azioni e KRI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27</a:t>
            </a:r>
          </a:p>
        </p:txBody>
      </p:sp>
      <p:pic>
        <p:nvPicPr>
          <p:cNvPr id="7" name="Picture 6" descr="Scheda_NFR0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486400" cy="4057205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234440"/>
          <a:ext cx="5559551" cy="21522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4822"/>
                <a:gridCol w="437472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Blocco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Informazioni e significato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Fonti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riferimento, data, tipo (Interna/Esterna), rilevanza per la previsione (Alta, Media, Bassa); con A6 anche «a sostegno di» quale valore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Azioni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che cosa fare, owner (una funzione), orizzonte 3/6/12 mesi, stato (Proposta, Approvata, In corso, Completata…) e ciclo; sotto,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perché</a:t>
                      </a:r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 e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effetto atteso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KRI in vigore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[tipo] nome (unità), valore del ciclo, soglie attenzione / allerta, valore del ciclo prima, stato Verde/Ambra/Rosso; sotto,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perché lo misuriamo</a:t>
                      </a:r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 ed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effetto atteso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3569589"/>
            <a:ext cx="5559552" cy="2785491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Importanza: le fonti dicono quanto è solido il giudizio; le azioni sono gli impegni chiesti alle funzioni e alimentano la Y di Mosca; i KRI dicono come la Banca saprà, nei cicli dopo, se il rischio cresce (esposizione) e se il fenomeno accelera (evoluzione).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LE SCHEDE DEI RISCHI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Due rischi AGIRE ORA per ragioni diverse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28</a:t>
            </a:r>
          </a:p>
        </p:txBody>
      </p:sp>
      <p:pic>
        <p:nvPicPr>
          <p:cNvPr id="7" name="Picture 6" descr="_Scheda_NFR01_1_0_0_1_0.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170" y="1234440"/>
            <a:ext cx="4486459" cy="237744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_Scheda_NFR11_1_0_0_1_0.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110" y="1234440"/>
            <a:ext cx="4408883" cy="237744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57200" y="37947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794760"/>
            <a:ext cx="5486400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13048"/>
            <a:ext cx="53400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NFR-01 · il rischio è già qui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97096"/>
            <a:ext cx="530352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Prossimità 5 (in corso presso la Banca) →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Z = 0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anni.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Azioni a 3 mesi → X + Y = 0,25 + 0,25 = 0,50.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Margine −0,50: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AGIRE ORA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; con un KRI in rosso →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Attivazione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Score 4,65: primo in classifica.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37947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3794760"/>
            <a:ext cx="5486400" cy="329184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3813048"/>
            <a:ext cx="53400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NFR-11 · la mitigazione è lunga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4197096"/>
            <a:ext cx="530352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Prossimità 3 →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Z = 1,5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anni: c'è tempo prima che si manifesti.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Ma servono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3 anni di adeguamento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strutturale (sostituire sistemi fuori supporto) → Y = 3.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X + Y = 3,25 &gt; 1,5: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AGIRE ORA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anche con score 2,80, undicesimo in classifica.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È il caso per cui Mosca ha scritto la disuguaglianza.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Il report trimestrale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Il registro Excel NFR_Registro.xlsx: dal Quadro d'insieme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al significato di ogni foglio e di ogni dato.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registro: un solo file, quattro gruppi di fogli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926080" cy="65836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274320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Guida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come si usa il workbook, chi aggiorna cosa, dove si scrive a mano, regole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371600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1371600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Guida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48255"/>
            <a:ext cx="2926080" cy="104241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48255"/>
            <a:ext cx="2743200" cy="1042415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Report al comitato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le pagine del PDF per il comitato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7016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Quadro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84648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1224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Classifica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48856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Radar_Mosca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13064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Matrice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77272" y="2139696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13848" y="2139696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Delta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40" y="2523744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7016" y="2523744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Fenomeni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84648" y="2523744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1224" y="2523744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Metodologia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200399"/>
            <a:ext cx="2926080" cy="104241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200399"/>
            <a:ext cx="2743200" cy="1042415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Lavoro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viste per l'analista e il validatore; l'unico foglio da compilare è Validazione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0440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57016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Registro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84648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21224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Storico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48856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85432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Indicatori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13064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9640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Notizie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77272" y="3291839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3848" y="3291839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Piano_azioni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675887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57016" y="3675887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Osservazione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84648" y="3675887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21224" y="3675887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Validazione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48856" y="3675887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85432" y="3675887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Parametri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13064" y="3675887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9640" y="3675887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Dizionario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352544"/>
            <a:ext cx="2926080" cy="1042415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352544"/>
            <a:ext cx="2743200" cy="1042415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Dati (li scrive solo lo script)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la storia, una riga per soggetto per ciclo o per notizia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20440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57016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RiskRegister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84648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21224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Azioni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48856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85432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KRI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13064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NewsLog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77272" y="4443983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13848" y="4443983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Sintesi_Cicli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520440" y="4828031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57016" y="4828031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Sintesi_Settimane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184648" y="4828031"/>
            <a:ext cx="1572768" cy="310896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21224" y="4828031"/>
            <a:ext cx="14996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Storico_Validazioni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5550407"/>
            <a:ext cx="11247120" cy="8503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Fascia blu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 cima a ogni foglio: ciclo, data dei dati, «validato» o «da validare».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Riga 2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chi aggiorna il foglio (azzurro trimestrale, verde settimanale, giallo validatore, grigio calcolo), che cosa contiene, come si legge.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Celle gialle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input a mano; tutto il resto è scritto dallo script o è una formula. In fondo ai fogli del report, la legenda.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Il report al comitato: che cos'è e come si usa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12064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12064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298448"/>
            <a:ext cx="497433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Che cos'è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82495"/>
            <a:ext cx="4937759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Il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PDF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che il comando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report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produce dal registro validato: Report_comitato_&lt;ciclo&gt;.pdf.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Si fa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dopo la validazione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con righe da validare il comando si ferma.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Si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rigenera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quando il validatore cambia a mano presidio, anni di adeguamento, supervisore o stato di un'azione (la versione prima resta, con la data nel nome).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--con-lavoro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aggiunge Registro e Parametri.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Si accompagna con il file delle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schede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Come si legge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Dal generale al particolare: priorità e stato (Quadro) → grandezza e urgenza (Classifica, Radar, Matrice) → cambiamenti (Delta) → rischi fuori dal radar (Fenomeni) → metodo (Metodologia).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06440" y="1280160"/>
          <a:ext cx="5925311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172"/>
                <a:gridCol w="410213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Pagina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domanda a cui risponde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Quadro (2 pagine)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Il ciclo è completo e validato? Quali sono le priorità e perché?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Classifica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Quali rischi sono più grandi, e chi è in ritardo?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Radar_Mosca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Quanto presto bisogna agire, rischio per rischio?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Matrice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Quanto è grave ogni rischio (Probabilità × Impatto)?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Delta (2 pagine)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Che cosa è cambiato dal ciclo prima, e su quale evidenza?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Fenomeni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Quali rischi teniamo d'occhio fuori dal radar?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Metodologia (5 pagine)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Con quali scale, pesi e regole sono fatti i numeri?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Registro, Parametri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(con --con-lavoro) il dettaglio e i parametri in vigore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Quadro d'insieme (1/3): i cinque riquadri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32</a:t>
            </a:r>
          </a:p>
        </p:txBody>
      </p:sp>
      <p:pic>
        <p:nvPicPr>
          <p:cNvPr id="7" name="Picture 6" descr="Quadro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492240" cy="504098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78040" y="1188720"/>
            <a:ext cx="457200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La prima pagina per il comitato.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Prima di leggere i numeri: sono definitivi?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Rischi valutati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13 su 13 in anagrafica, «completo»: nessun rischio dimenticato.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Livello di allerta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quanti in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attivazione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e in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attenzione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(sotto: quali in attivazione, quanti in monitoraggio): il carico di lavoro del comitato.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Variati · nuovi (radar)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quanti hanno cambiato valore e quanti sono nuovi rispetto al ciclo prima; sotto, entrati e usciti dal radar e quanti in osservazione.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KRI in rosso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su quanti in vigore: i segnali misurati, non stimati.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Validazione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— ✓ ciclo validato, oppure quante righe restano: se non è validato, i numeri non valgono.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Colori: rosso = qualcosa chiede attenzione, verde = a posto.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Quadro d'insieme (2/3): priorità, gravità, urgenza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33</a:t>
            </a:r>
          </a:p>
        </p:txBody>
      </p:sp>
      <p:pic>
        <p:nvPicPr>
          <p:cNvPr id="7" name="Picture 6" descr="_Quadro_1_0_0.27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492240" cy="368014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78040" y="1188720"/>
            <a:ext cx="457200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Priorità — primi cinque per score composito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posizione, rischio (◆ supervisore), score con la barra su scala fissa 0-5, variazione (▲ ▼ ●) e urgenza colorata.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Gravità: Probabilità × Impatto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la matrice in piccolo, con i numeri dei rischi (01 = NFR-01) nelle celle verdi, ambra, rosse.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Note dell'analista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(cella gialla): testo libero, per esempio la sintesi di A7; al ciclo dopo va in Sintesi_Cicli.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Urgenza: radar di Mosca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lo stesso grafico del foglio Radar_Mosca, in piccolo.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I rischi del ciclo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la legenda dei codici, con ◆.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Uso: in un colpo d'occhio, i rischi più grandi (priorità), i più gravi (matrice) e i più urgenti (radar) — tre misure diverse che non sempre coincidono.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Quadro d'insieme (3/3): il commento di A1 e i rischi segnalati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34</a:t>
            </a:r>
          </a:p>
        </p:txBody>
      </p:sp>
      <p:pic>
        <p:nvPicPr>
          <p:cNvPr id="7" name="Picture 6" descr="Quadro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221009" cy="50749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78040" y="1188720"/>
            <a:ext cx="457200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Il commento dell'analisi (A1)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Messaggio chiave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Decisioni richieste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il commento per il comitato, scritto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prima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validazione.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Controlli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la sintesi di A5 o «A5 non usato», con le osservazioni.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Dopo il commento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compilata se il validatore ha rettificato qualcosa dopo — valgono i numeri validati.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Segnalazioni da motivare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quante ⚑ sono andate in validazione.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Rischi segnalati e perché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Chi: i primi tre per score, quelli in attivazione o attenzione, i variati o nuovi.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Livello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Perché lo segnaliamo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(calcolato: posizione, AGIRE ORA con X + Y e Z, supervisore, presidio, KRI rossi, notizie) ·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Cosa è cambiato, e su quale evidenza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fondo 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limiti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valutazione 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legenda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Classifica e lente di Mosca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35</a:t>
            </a:r>
          </a:p>
        </p:txBody>
      </p:sp>
      <p:pic>
        <p:nvPicPr>
          <p:cNvPr id="7" name="Picture 6" descr="Classi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596920" cy="50749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360920" y="1188720"/>
            <a:ext cx="4370831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Tabella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Pos., ID, Nome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Score composito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score del ciclo prima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Δ score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Esito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(Nuovo, Variato, Confermato);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Urgenza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colorata;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Margine Z − (X + Y)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 anni;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Owner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A sinistra: la classifica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barra per rischio, dal più alto per score; colore = urgenza (rosso agire ora, ambra entro l'anno, grigio c'è margine); freccia = variazione.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A destra: la lente di Mosca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Dal più in ritardo: la colonna è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tempo necessario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(grigio X, arancio Y entro Z, rosso Y oltre Z), il rombo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tempo disponibile Z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la classifica dice la grandezza, la lente spiega il colore — perché un rischio piccolo può essere urgente (NFR-11).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Radar di Mosca: quanto presto agire, e quanto è grande ogni rischio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36</a:t>
            </a:r>
          </a:p>
        </p:txBody>
      </p:sp>
      <p:pic>
        <p:nvPicPr>
          <p:cNvPr id="7" name="Picture 6" descr="_Radar_Mosca_0_0.47_0.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139729" cy="516636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355080" y="1188720"/>
            <a:ext cx="539496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Distanza dal centro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margine di Mosca + 2 (fra 0,6 e 6):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più vicino al centro = agire prima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Cerchio rosso «Mosca»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margine 0: dentro, X + Y &gt; Z, si è già in ritardo anche se l'evento non è imminente.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Cerchi grigi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1, 2 e 3 anni di margine.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Area del cerchio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Probabilità × Impatto (la grandezza).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Colore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livello di allerta: rosso Attivazione, giallo Attenzione, verde Monitoraggio.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Settore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categoria della tassonomia interna (nove spicchi); rischi dello stesso settore a distanze angolari uguali.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◆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 = tema all'attenzione del supervisore.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Uso: unisce in un'immagine urgenza (posizione), grandezza (area) e decisione (colore). Nessun agente stima l'urgenza: la calcola il foglio.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Radar di Mosca: la tabella sotto il grafico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37</a:t>
            </a:r>
          </a:p>
        </p:txBody>
      </p:sp>
      <p:pic>
        <p:nvPicPr>
          <p:cNvPr id="7" name="Picture 6" descr="_Radar_Mosca_0_0.0_1_0.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329911" cy="3017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69480" y="1234440"/>
          <a:ext cx="4462271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2402"/>
                <a:gridCol w="254986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Colonne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Significato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Impatto, Probabilità, P×I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la grandezza (area)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Prossimità → Z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anni prima che si manifesti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anni per decidere e avviare (0,25)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852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anni per mitigare: azioni o adeguamento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9852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Margine, Urgenza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Z − (X + Y): AGIRE ORA, entro l'anno, margine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98526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Settore, angolo, raggio, x, y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geometria del grafico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F1-F3, A1-A3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segnali forti e aggravanti (1 = sì)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262626"/>
                          </a:solidFill>
                          <a:latin typeface="Calibri"/>
                        </a:rPr>
                        <a:t>Livello, Motivo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262626"/>
                          </a:solidFill>
                          <a:latin typeface="Calibri"/>
                        </a:rPr>
                        <a:t>livello di allerta e perché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434840"/>
          <a:ext cx="11274550" cy="15173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45"/>
                <a:gridCol w="6966389"/>
                <a:gridCol w="2933216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Livello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Quando (calcolato dal foglio)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Conseguenza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Attivazione</a:t>
                      </a:r>
                    </a:p>
                  </a:txBody>
                  <a:tcPr marL="54864" marR="54864" marT="22860" marB="22860" anchor="ctr">
                    <a:solidFill>
                      <a:srgbClr val="F8D7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almeno 2 segnali forti: F1 AGIRE ORA, F2 un KRI in rosso, F3 notizie in peggioramento oltre la soglia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 comitato con un piano d'azione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Attenzione</a:t>
                      </a:r>
                    </a:p>
                  </a:txBody>
                  <a:tcPr marL="54864" marR="54864" marT="22860" marB="22860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1 segnale forte, oppure margine sotto 1 anno con un aggravante: A1 P×I ≥ 12, A2 presidio assente, A3 metà dei KRI in ambra o rosso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l'owner conferma azioni e KRI entro il ciclo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Monitoraggio</a:t>
                      </a:r>
                    </a:p>
                  </a:txBody>
                  <a:tcPr marL="54864" marR="54864" marT="22860" marB="22860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gli altri casi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ciclo trimestrale 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Matrice di gravità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38</a:t>
            </a:r>
          </a:p>
        </p:txBody>
      </p:sp>
      <p:pic>
        <p:nvPicPr>
          <p:cNvPr id="7" name="Picture 6" descr="Mat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433427" cy="50749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23560" y="1188720"/>
            <a:ext cx="6108192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Ogni rischio nella cella della sua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Probabilità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(righe, da Remota a Quasi certa) e del suo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Impatto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(colonne, da Limitato a Critico).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Colore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P × I: verde fino a 6, ambra da 8 a 12, rosso da 15.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◆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tema all'attenzione del supervisore.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Sotto: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 rischi dal più grave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con P · I e il prodotto P × I.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Dice la </a:t>
            </a:r>
            <a:r>
              <a:rPr sz="1050" b="1" i="1">
                <a:solidFill>
                  <a:srgbClr val="595959"/>
                </a:solidFill>
                <a:latin typeface="Calibri"/>
              </a:rPr>
              <a:t>gravità</a:t>
            </a:r>
            <a:r>
              <a:rPr sz="1050" b="0" i="1">
                <a:solidFill>
                  <a:srgbClr val="595959"/>
                </a:solidFill>
                <a:latin typeface="Calibri"/>
              </a:rPr>
              <a:t>, non l'urgenza: un rischio grave ma lontano sta in alto a destra nella matrice e lontano dal centro nel radar.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linguaggio più familiare al comitato, quello delle matrici di rischio operativo.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Delta: che cosa è cambiato dal ciclo precedente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39</a:t>
            </a:r>
          </a:p>
        </p:txBody>
      </p:sp>
      <p:pic>
        <p:nvPicPr>
          <p:cNvPr id="7" name="Picture 6" descr="Delt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569039" cy="25146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Delt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6317082" cy="25146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452360" y="1188720"/>
            <a:ext cx="42976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Pagina 1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Una barra per 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dalla variazione più alta dello score: rosso in aumento, blu in diminuzione, grigio invariato.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Perché varia (o no)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nello stesso ordine: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motivo con l'evidenza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la sua data, oppure «Invariato: nessuna evidenza nuova».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Pagina 2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Quanto vale un punto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ogni dimensione sullo score (con e senza Velocity).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Dettaglio per dimensione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Δ Impatto, Probabilità, Prossimità, Velocity e Δ score;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segnala una violazione della regola del punto.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Evidenziate le variazioni di score oltre la soglia del Delta (0,30).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comitato vede che ogni cambiamento ha un'evidenza datata.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Fenomeni: i rischi in osservazione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40</a:t>
            </a:r>
          </a:p>
        </p:txBody>
      </p:sp>
      <p:pic>
        <p:nvPicPr>
          <p:cNvPr id="7" name="Picture 6" descr="Fenome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0027" y="1234440"/>
            <a:ext cx="7088897" cy="3017519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34840"/>
            <a:ext cx="548640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testa: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quanti nel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(e la capienza)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quanti in osservazione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(al massimo 20), entrati e usciti nel ciclo.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ogni rischio fuori dal radar, dal più alto per score: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categoria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le quattro dimensioni,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Perché fuori dal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quale soglia manca (Prossimità o Probabilità sotto 2) o la capienza.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Orizzonte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 anni (la Prossimità non distingue oltre i 3 anni).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434840"/>
            <a:ext cx="548640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Segnale che lo porterebbe nel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il fatto osservabile da tenere d'occhio.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Driver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notizie di A3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collegate nelle ultime 4 settimane.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fondo chi è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entrato o uscito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dal radar nel ciclo.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comitato vede anche ciò che non è ancora urgente, e che cosa lo farebbe diventare tale (es. il calcolo quantistico).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Metodologia: come si leggono i numeri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41</a:t>
            </a:r>
          </a:p>
        </p:txBody>
      </p:sp>
      <p:pic>
        <p:nvPicPr>
          <p:cNvPr id="7" name="Picture 6" descr="Metodologi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7223760" cy="414998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909560" y="1188720"/>
            <a:ext cx="38404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Cinque pagine, sempre allineate ai parametri in vigore (le legge dal foglio Parametri):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Chi produce i numeri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agenti, script, validatore.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Fonti di evidenza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loro rilevanza.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Analisi per dimensione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scale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con i descrittori.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Score composito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formula e pesi.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Regole di variazione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fra cicli.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Urgenza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(Mosca)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livello di allerta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registro unico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Come si leggono i grafici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validazione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risponde alla domanda «con quale metodo?» senza aprire altri documenti.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Registro: il ciclo corrente, un rischio per riga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42</a:t>
            </a:r>
          </a:p>
        </p:txBody>
      </p:sp>
      <p:pic>
        <p:nvPicPr>
          <p:cNvPr id="7" name="Picture 6" descr="Regis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74499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52360" y="1188720"/>
            <a:ext cx="4279392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Righe 4-5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righe da validare e rettifiche applicate → «Ciclo validato»; rischi in anagrafica contro valutati → «Ciclo completo». Prima di tutto: se non dice così, i numeri non sono definitivi.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ID (fondo = livello di allerta), nome, categoria.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Dimensioni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Imp, Prob, Pross, Vel (n.v. = non valutata).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Calcolati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score, Δ ciclo prima, Δ 6 mesi, urgenza, margine.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◆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supervisore;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R · A · V del ciclo.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Segnali netti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delle notizie (4 settimane, ▲ ▼ oltre la soglia): un allarme, non cambia lo score.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Presidio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Banca;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Rilievi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A5 e dei controlli (⚑);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Owner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la tabella di lavoro dell'analista.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Storico: lo score negli ultimi otto cicli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43</a:t>
            </a:r>
          </a:p>
        </p:txBody>
      </p:sp>
      <p:pic>
        <p:nvPicPr>
          <p:cNvPr id="7" name="Picture 6" descr="f_Stor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467" y="1234440"/>
            <a:ext cx="7214016" cy="3017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riga per rischio, una colonna per ciclo (straordinari compresi), dal più vecchio.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#N/A = rischio non valutato in quel ciclo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non score zero.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 cicli passati sono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ricalcolati con i pesi in vigore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cambiando i pesi, il trend resta confrontabile.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Il grafico ha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scala fissa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0-5: cicli diversi si confrontano a colpo d'occhio.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vedere da quanto tempo un rischio cresce, e se la crescita è continua o a salti.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Indicatori: i KRI del ciclo e la storia di un KRI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44</a:t>
            </a:r>
          </a:p>
        </p:txBody>
      </p:sp>
      <p:pic>
        <p:nvPicPr>
          <p:cNvPr id="7" name="Picture 6" descr="f_Indicato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605" y="1234440"/>
            <a:ext cx="8771741" cy="3017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In testa: quanti KRI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Verde, Ambra, Rosso, Non rilevato, Soglie da definire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Tabella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KRI in vigore: ID, rischio, nome, unità, soglie,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valore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data di rilevazione,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valore del ciclo prima,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tendenza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(▲ peggiora),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tipo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(Esposizione / Evoluzione).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 destra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la storia di un KRI, da scegliere nella cella gialla N4 (anche uno uscito di vigore).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Stato: Verde sotto la soglia di attenzione, Ambra fino all'allerta, Rosso oltre; Non rilevato senza valore (mai zero).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sono le misure, non le stime: un KRI in rosso è un segnale forte del livello di allerta.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Notizie: la pressione sulle categorie di rischio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45</a:t>
            </a:r>
          </a:p>
        </p:txBody>
      </p:sp>
      <p:pic>
        <p:nvPicPr>
          <p:cNvPr id="7" name="Picture 6" descr="f_Notiz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199448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52360" y="1188720"/>
            <a:ext cx="4279392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Per ognuna delle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nove categorie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sulle ultime 4 settimane: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intensità massima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(0-3), notizie con intensità ≥ 2, rischi in anagrafica,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presidio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AREA NON PRESIDIATA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notizie di intensità ≥ 2 su una categoria senza rischi nel registro: tema per il prossimo trimestre.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In osservazione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nessun rischio nel radar, almeno uno in osservazione.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Grafico: notizie per intensità 1, 2, 3.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A destra: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sintesi di A3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della settimana,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flag proposti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in rosso l'eventuale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proposta di ciclo straordinario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foglio del ciclo settimanale. Le notizie non cambiano score.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Piano delle azioni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46</a:t>
            </a:r>
          </a:p>
        </p:txBody>
      </p:sp>
      <p:pic>
        <p:nvPicPr>
          <p:cNvPr id="7" name="Picture 6" descr="f_Piano_azio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182428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52360" y="1188720"/>
            <a:ext cx="4279392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Tutte le azioni: prima 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proposte da decidere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poi approvate, in corso, completate.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La proposta (A1)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ciclo, rischio, ID azione (&lt;ciclo&gt;-NFR-nn-An), azione, owner, orizzonte.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La decisione e l'avanzamento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stato, data della decisione,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scadenza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decisione + orizzonte, esito della validazione.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La validazione è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delibera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Accettato o Rettificato = Approvata, Respinto = Respinta. In corso e Completata le scrive a mano chi tiene il piano (foglio Azioni, colonna Stato).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 azioni aperte tornano ad A1 nel trimestre dopo.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registro degli impegni e delle scadenze; l'orizzonte più lungo è la Y di Mosca.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Osservazione: dove si concentrano i rischi fuori dal radar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47</a:t>
            </a:r>
          </a:p>
        </p:txBody>
      </p:sp>
      <p:pic>
        <p:nvPicPr>
          <p:cNvPr id="7" name="Picture 6" descr="f_Osserv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1274552" cy="2696661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113981"/>
            <a:ext cx="5486400" cy="224109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 sinistra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 rischi in osservazione con dimensioni, score,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perché fuori dal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orizzonte,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segnale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di avvicinamento,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meccanismo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validazione,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notizie di A3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delle ultime 4 settimane.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 destra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incrocio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driver × categoria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rischi in osservazione e, accanto, dei rischi del radar.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113981"/>
            <a:ext cx="5486400" cy="224109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casella piena nei rischi in osservazione e vuota nel radar =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un tema che il radar non gestisce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Uso: il lavoro dell'analista sui rischi lontani; per il comitato la stessa informazione è nella pagina Fenomeni.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Validazione (1/2): la griglia, una riga per oggetto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48</a:t>
            </a:r>
          </a:p>
        </p:txBody>
      </p:sp>
      <p:pic>
        <p:nvPicPr>
          <p:cNvPr id="7" name="Picture 6" descr="Validazione_Q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898007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52360" y="1188720"/>
            <a:ext cx="42976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L'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unico foglio da compilare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 Ci sono solo i periodi ancora da validare.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riga per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(nel radar o in osservazione),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KRI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notizia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Celle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gialle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valore proposto dall'agente (accanto, in grigio, la proposta): se d'accordo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non si toccano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(= Accettato).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Se non d'accordo: si scrive il valore giusto (la cella diventa arancio) e il perché in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Motivazione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(almeno 10 caratteri).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Respingi = Sì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toglie un KRI, un'azione o una notizia (un rischio non si respinge).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Segnalazioni dei controlli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⚑ = Motivazione obbligatoria anche senza cambiare nulla.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Score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margine di Mosca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si ricalcolano mentre si scrive.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Decisione sullo stato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Automatico, Radar o Osservazione.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Validazione (2/2): KRI, azioni e criteri per decidere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49</a:t>
            </a:r>
          </a:p>
        </p:txBody>
      </p:sp>
      <p:pic>
        <p:nvPicPr>
          <p:cNvPr id="7" name="Picture 6" descr="Validazione_Q3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3945633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1234440"/>
          <a:ext cx="4279391" cy="2496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559"/>
                <a:gridCol w="327783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Oggetto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Si cambia / si respinge se…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84453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Rischio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Calibri"/>
                        </a:rPr>
                        <a:t>il valore non corrisponde al descrittore; intero 1-5, al massimo un punto, con evidenza; anni di adeguamento 0-30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84453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KRI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Calibri"/>
                        </a:rPr>
                        <a:t>fonte dati non identificabile o non misura il rischio; soglie (entrambe, allerta ≥ attenzione) o valore errato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84453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Calibri"/>
                        </a:rPr>
                        <a:t>duplicata o non pertinente; owner = una funzione, mai una persona; orizzonte 3, 6 o 12 mesi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1402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62626"/>
                          </a:solidFill>
                          <a:latin typeface="Calibri"/>
                        </a:rPr>
                        <a:t>Notizia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262626"/>
                          </a:solidFill>
                          <a:latin typeface="Calibri"/>
                        </a:rPr>
                        <a:t>rischio o segnale sbagliati; non pertinente o già contata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3868165"/>
            <a:ext cx="4279392" cy="248691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Poi, a file chiuso: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valida --periodo &lt;ciclo&gt; --validatore "…"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. Controlla tutte le righe prima di applicarne una; le righe escono dal foglio e il dettaglio resta in Storico_Validazioni. Per cambiare un ciclo già validato: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riapri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Guida e Dizionario: il manuale dentro il 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50</a:t>
            </a:r>
          </a:p>
        </p:txBody>
      </p:sp>
      <p:pic>
        <p:nvPicPr>
          <p:cNvPr id="7" name="Picture 6" descr="f_Gu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486400" cy="3353499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f_Dizio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34440"/>
            <a:ext cx="5486400" cy="3381116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57200" y="5166360"/>
            <a:ext cx="54864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262626"/>
                </a:solidFill>
                <a:latin typeface="Calibri"/>
              </a:rPr>
              <a:t>Guida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 cosa serve il registro,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chi aggiorna cosa e quando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(foglio per foglio), quando si lanciano A5 e A6,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dove si scrive a mano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le regole, il primo uso.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166360"/>
            <a:ext cx="54864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262626"/>
                </a:solidFill>
                <a:latin typeface="Calibri"/>
              </a:rPr>
              <a:t>Dizionario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ogni dato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 workbook — dove sta, chi lo scrive e quando, che cosa significa, come si calcola, valori ammessi, un esempio. Viene dalla mappa dei campi: sempre quello in uso.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Dati · RiskRegister: tutte le valutazioni, per sempre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51</a:t>
            </a:r>
          </a:p>
        </p:txBody>
      </p:sp>
      <p:pic>
        <p:nvPicPr>
          <p:cNvPr id="7" name="Picture 6" descr="f_Risk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140" y="1234440"/>
            <a:ext cx="8800671" cy="3017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rischio per ciclo, solo in aggiunta, con i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valori validati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Identità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ciclo, data di riferimento, ID, nome, categoria, driver, owner.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Valutazione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Impatto, Probabilità, Prossimità, Velocity, score composito (formula), anni di adeguamento.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Perché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descrizione (meccanismo), razionale in parti, variazioni da → a con evidenza, fonti con rilevanza.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4434840"/>
            <a:ext cx="5486400" cy="1920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Controlli e decisioni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esito, rilievi (⚑), validazione, approvato da, data.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Registro unico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stato (Radar, Radar in uscita, Osservazione, Dismesso), motivo, movimento (Entrato/Uscito), decisione sullo stato, orizzonte, segnale.</a:t>
            </a:r>
          </a:p>
          <a:p>
            <a:pPr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  <a:latin typeface="Calibri"/>
              </a:rPr>
              <a:t>Importanza: è la fonte di ogni vista e della baseline del ciclo dopo.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Dati · Azioni, KRI, NewsLog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52</a:t>
            </a:r>
          </a:p>
        </p:txBody>
      </p:sp>
      <p:pic>
        <p:nvPicPr>
          <p:cNvPr id="7" name="Picture 6" descr="f_Azio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657600" cy="2097647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f_K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1234440"/>
            <a:ext cx="3657600" cy="1374242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9" name="Picture 8" descr="f_News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296" y="1234440"/>
            <a:ext cx="3657600" cy="118739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457200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57600"/>
            <a:ext cx="36576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Azioni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azione: ciclo, rischio,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ID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descrizione, owner, orizzonte (mesi → Y di Mosca), razionale con EFFETTO,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stato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data e autore della decisione, validazione.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657600"/>
            <a:ext cx="365760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KRI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KRI per ciclo: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KRI_ID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stabile, rischio, nome,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tipo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unità, fonte dati,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soglie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valore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(vuoto se non rilevato, mai ricopiato), stato,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in vigore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ciclo di nascita.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3657600"/>
            <a:ext cx="3657600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NewsLog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notizia: data, settimana,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ID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titolo, fonte e codice,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rischio collegato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(o NON PRESIDIATO),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segnale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intensità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Imp_9_x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sulle nove categorie, sintesi, validazione.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4 · IL REPORT TRIMESTRALE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Dati · Sintesi_Cicli, Sintesi_Settimane, Storico_Validazioni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53</a:t>
            </a:r>
          </a:p>
        </p:txBody>
      </p:sp>
      <p:pic>
        <p:nvPicPr>
          <p:cNvPr id="7" name="Picture 6" descr="f_Sintesi_Ci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3657599" cy="1153219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8" name="Picture 7" descr="f_Sintesi_Settim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1234440"/>
            <a:ext cx="3657600" cy="1272117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9" name="Picture 8" descr="f_Storico_Validazio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296" y="1234440"/>
            <a:ext cx="3657599" cy="218786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457200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57600"/>
            <a:ext cx="36576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Sintesi_Cicli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ciclo: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commento di A1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(MESSAGGIO / DECISIONI),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sintesi di A5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osservazioni e rilievi del ciclo, segnalazioni da motivare,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Note dell'analista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archiviate, dati dello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straordinario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(chi, quando, perché).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3657600"/>
            <a:ext cx="3657600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Sintesi_Settimane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settimana: notizie valutate,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sintesi di A3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proposta di straordinario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flag proposti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(rischio, direzione, motivazione). Un flag non cambia score: va al trimestre.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3657600"/>
            <a:ext cx="365760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3657600"/>
            <a:ext cx="3657600" cy="32918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3675887"/>
            <a:ext cx="351129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Storico_Validazioni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4059936"/>
            <a:ext cx="347472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Calibri"/>
              </a:rPr>
              <a:t>Una riga per oggetto e campo: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proposta dell'agente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decisione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(Accettato, Rettificato, Respinto),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valore validato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motivazione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, chi e quando. È l'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audit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e la base per migliorare gli agenti.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109728" cy="1920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4884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200" b="0" i="0">
                <a:solidFill>
                  <a:srgbClr val="FFC000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974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 parametri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Gerarchia di rischio, scale, pesi, soglie e valori ammessi:</a:t>
            </a:r>
          </a:p>
          <a:p>
            <a:pPr>
              <a:spcAft>
                <a:spcPts val="400"/>
              </a:spcAft>
            </a:pPr>
            <a:r>
              <a:rPr sz="1700" b="0" i="0">
                <a:solidFill>
                  <a:srgbClr val="DDE6F2"/>
                </a:solidFill>
                <a:latin typeface="Calibri"/>
              </a:rPr>
              <a:t>che cosa vale oggi e chi lo decide.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Dove vivono i parametri e chi li decide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55</a:t>
            </a:r>
          </a:p>
        </p:txBody>
      </p:sp>
      <p:pic>
        <p:nvPicPr>
          <p:cNvPr id="7" name="Picture 6" descr="Parametr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583680" cy="3818534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269480" y="1188720"/>
            <a:ext cx="448056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Foglio Parametri (celle gialle)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Pesi dello score, soglie, parametri dell'urgenza e del livello di allerta, regola del radar: li decide la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funzione di 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e li registra in DECISIONI.md. Valgono per tutti i cicli, passati compresi.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Anagrafica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dei rischi: owner, anni di adeguamento, attenzione del supervisore, presidio dei controlli: le decide il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validatore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Ciclo e settimana correnti e periodi del trend li scrive lo script.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File del kernel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Tassonomia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(categorie e driver),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rubrica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(scale e regole),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fonti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(catalogo): entrano nei prompt degli agenti.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I descrittori sono segnaposto verosimili: la Banca li riscrive nel proprio linguaggio; i pesi sono provvisori (D-20).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La gerarchia: dalla famiglia di rischio al singolo indicatore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Famiglia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280160"/>
            <a:ext cx="537667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Rischi Non Finanziari – Rischi Operativi (tassonomia interna della Banca)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148839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48839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Categoria (9 in perimetro)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48839"/>
            <a:ext cx="496519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dove ricade la perdita: 9.1 … 9.13 · è il settore del radar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0160" y="3017520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418A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017520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Rischio NFR-nn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017520"/>
            <a:ext cx="45537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un meccanismo di perdita, una sola categoria, uno o più driver · nel radar o in osservazione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1640" y="3886200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3886200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KRI e azioni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886200"/>
            <a:ext cx="414223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due KRI (NFR-nn-K1, K2: esposizione ed evoluzione) · 1-5 azioni (&lt;ciclo&gt;-NFR-nn-An)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03120" y="4754879"/>
            <a:ext cx="2743200" cy="7315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39" y="4754879"/>
            <a:ext cx="2651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Fonti ed evidenze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79" y="4754879"/>
            <a:ext cx="37307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documenti con data, tipo e rilevanza 1-3 · notizie collegate (N-AAAAMMGG-nn)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280160"/>
            <a:ext cx="2999232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32520" y="1280160"/>
            <a:ext cx="2999232" cy="329184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05672" y="1298448"/>
            <a:ext cx="2852927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Trasversali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682495"/>
            <a:ext cx="2816351" cy="37490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Driver emergenti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(8): perché il rischio è emergente oggi; un rischio ne ha uno o più.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Owner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la funzione che risponde del rischio e delle azioni.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Stato nel registro unico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Radar, Radar in uscita, Osservazione, Dismesso.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Regola di classificazione: un rischio ha UNA categoria e uno o più driver. Se sembra avere due categorie sono due rischi; anche due meccanismi di perdita diversi nella stessa categoria sono due rischi.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Tassonomia: le nove categorie in perimetro e gli otto driver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760720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554480"/>
                <a:gridCol w="35661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Codice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Perdite da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Condotta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comportamenti non corretti verso clienti o mercati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Legale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violazioni di leggi, responsabilità contrattuale, controversie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Fiscale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violazioni di norme tributarie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Tecnologico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sistemi e servizi ICT inadeguati o non sostituibili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Sicurezza informatica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dati e sistemi violati o indisponibili, attacchi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9.8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Sicurezza fisica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eventi fisici su persone, sedi, beni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Terze parti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ricorso a fornitori di beni o servizi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9.11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Employer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rapporti di lavoro, salute e sicurezza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9.13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Processo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errori di processo o di esecuzione delle operazioni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46520" y="1234440"/>
          <a:ext cx="5285231" cy="3767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246"/>
                <a:gridCol w="1457995"/>
                <a:gridCol w="291599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Codice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Esempi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DRV-CYB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Cyber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nuove tecniche d'attacco, vulnerabilità diffuse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DRV-TPR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Terze parti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fornitori ICT critici, concentrazione cloud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DRV-AI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Intelligenza artificiale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uso interno di modelli, attacchi abilitati da AI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DRV-CLI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Clima e ambiente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eventi fisici estremi, transizione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DRV-CON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Condotta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pratiche commerciali, greenwashing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DRV-GEO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Geopolitica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sanzioni, conflitti, catene di fornitura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DRV-TEC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Debito tecnologico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sistemi obsoleti, migrazioni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DRV-HUM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Capitale umano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carenza di competenze, turnover in ruoli chiave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62356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Fuori perimetro: rischi finanziari, strategici, reputazionali e di modello; frode, financial crime, non conformità, qualità dei dati; eventi già accaduti; temi senza un meccanismo di perdita per la Banca. Una categoria senza rischi resta visibile: le notizie che la toccano escono come AREA NON PRESIDIATA.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Scale: Impatto e Probabilità (interi 1-5, 5 = peggiore)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516331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Impatto — danno se il rischio si manifesta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Limitato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nessun cliente toccato, perdita entro 100.000 euro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Contenuto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alcuni clienti coinvolti o un processo non critico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Rilevante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processo critico degradato o clientela ampia; segnalazione all'autorità possibile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Grave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interruzione di una funzione essenziale, sanzione probabile, danno reputazionale nazionale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Critico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effetto sulla continuità, sui prodotti o sulla solvibilità; intervento dell'autorità certo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99632" y="1234440"/>
          <a:ext cx="5532119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516331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Probabilità — plausibilità per la Banca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Remota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solo teorica, nessun caso noto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Improbabile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casi solo in altri settori o paesi, o Banca poco esposta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Possibile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casi in altri settori anche non finanziari; Banca esposta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Probabile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casi ripetuti in aziende strutturate o banche, o crescita documentata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Quasi certa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: già osservato presso istituzioni finanziarie o la loro filiera, o rapida accelerazione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32504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Si sceglie il descrittore più aderente all'evidenza, senza interpolare. Probabilità 4-5 solo se la Banca è esposta (ha il prodotto, il processo o il fornitore colpito); se le fonti non lo dicono, A1 scrive «esposizione non nota» con il valore «se esposta» e decide il validatore (D-81). Probabilità dice QUANTO è plausibile; Prossimità dice QUANDO. Probabilità × Impatto è la magnitudo (area nel radar, cella della matrice).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Scale: Prossimità (con la Z di Mosca) e Velocity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59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4241291"/>
                <a:gridCol w="9220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Prossimità — quando può manifestarsi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Z (anni)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Oltre 3 anni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3,5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2 a 3 anni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2,5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1 a 2 anni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1,5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Entro 12 mesi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0,5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In corso o imminente presso la Banca, la sua filiera o aziende ampie e complesse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99632" y="1234440"/>
          <a:ext cx="5532119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516331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Velocity — tempo fra innesco e pieno impatto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Oltre 12 mesi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6 a 12 mesi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3 a 6 mesi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1 a 3 mesi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Entro 1 mese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581144"/>
            <a:ext cx="5532120" cy="177393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Prossimità 4-5 solo con casi documentati (banca comparabile, fornitore, quasi-incidente) o un evento certo; deroga dichiarata per fenomeni ad altissimo impatto.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Z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= metà della fascia (per «oltre 3 anni», 3,5): è il tempo disponibile di Mosca.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4581144"/>
            <a:ext cx="5532120" cy="177393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Calibri"/>
              </a:rPr>
              <a:t>Velocity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facoltativa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: vuota (n.v.) se nessuna fonte ne documenta i tempi; da n.v. entra con qualunque valore.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150" b="1" i="0">
                <a:solidFill>
                  <a:srgbClr val="262626"/>
                </a:solidFill>
                <a:latin typeface="Calibri"/>
              </a:rPr>
              <a:t>Anni di adeguamento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(0-30, facoltativi): durata di un adeguamento strutturale oltre le azioni; li stima A1, li decide il validatore; sono la </a:t>
            </a:r>
            <a:r>
              <a:rPr sz="1150" b="1" i="0">
                <a:solidFill>
                  <a:srgbClr val="262626"/>
                </a:solidFill>
                <a:latin typeface="Calibri"/>
              </a:rPr>
              <a:t>Y minima</a:t>
            </a:r>
            <a:r>
              <a:rPr sz="1150" b="0" i="0">
                <a:solidFill>
                  <a:srgbClr val="262626"/>
                </a:solidFill>
                <a:latin typeface="Calibri"/>
              </a:rPr>
              <a:t> di Mosca, anche per i rischi in osservazione con Impatto 4-5 (con X + Y &gt; Z entrano nel radar). Non entrano nello score.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Score composito: pesi e calcolo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48640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Dimensione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Senza Velocity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Impatto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0,35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0,4375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Probabilità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0,25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0,3125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Prossimità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0,25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Velocity (solo se valutata)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0,20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62626"/>
                          </a:solidFill>
                          <a:latin typeface="Calibri"/>
                        </a:rPr>
                        <a:t>Somma (controllata)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234440"/>
            <a:ext cx="5486400" cy="5120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La formula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Media pesata delle dimensioni valutate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, divisa per la somma dei pesi presenti: senza Velocity i pesi si ridistribuiscono sulle altre tre.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Due decimali; vuoto se manca Impatto, Probabilità o Prossimità.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Esempio (NFR-01, 2026Q4-S1)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(0,35×4 + 0,25×5 + 0,20×5 + 0,20×5) / 1,00 = </a:t>
            </a:r>
            <a:r>
              <a:rPr sz="1250" b="1" i="0">
                <a:solidFill>
                  <a:srgbClr val="262626"/>
                </a:solidFill>
                <a:latin typeface="Calibri"/>
              </a:rPr>
              <a:t>4,65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Che cosa NON entra nello score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Presidio dei controlli, anni di adeguamento, rilevanza delle fonti, attenzione del supervisore, segnali delle notizie.</a:t>
            </a:r>
          </a:p>
          <a:p>
            <a:pPr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Lo calcola il foglio, non un agente; cambiando i pesi si ricalcolano anche i cicli passati, così il trend resta confrontabile.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54864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Soglie collegate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Soglia del Delta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0,30 — variazioni di score da guardare.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Matrice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P × I verde fino a 6, ambra 8-12, rosso da 15.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50" b="1" i="0">
                <a:solidFill>
                  <a:srgbClr val="262626"/>
                </a:solidFill>
                <a:latin typeface="Calibri"/>
              </a:rPr>
              <a:t>Trend</a:t>
            </a:r>
            <a:r>
              <a:rPr sz="1250" b="0" i="0">
                <a:solidFill>
                  <a:srgbClr val="262626"/>
                </a:solidFill>
                <a:latin typeface="Calibri"/>
              </a:rPr>
              <a:t>: ultimi 8 cicli, scala fissa.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Fonti: rilevanza, catalogo e regole di variazione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20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222"/>
                <a:gridCol w="4517898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Rilevanza di una fonte per la previsione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 Bassa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stampa generalista, opinioni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 Media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fonte specializzata con dati o casi (report di settore, threat intelligence)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 Alta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regolatore o autorità, consorzio di dati (es. ORX); caso documentato presso la Banca, una banca comparabile o un fornitore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666744"/>
            <a:ext cx="5532120" cy="2688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Stesso ente o stesso fatto =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una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fonte. Tipo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Interna / Esterna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(dalla cartella).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Probabilità 5 o Prossimità 4-5: almeno una fonte di rilevanza 3 (salvo deroga).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Catalogo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(fonti.md): 36 fonti FNT-nn, 31 approvate, 1 esclusa; canali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rss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(19, raccolta automatica),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(6, letti dall'agente),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share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(7, documenti interni e a licenza);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MAN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per un file portato a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99632" y="1234440"/>
          <a:ext cx="5532119" cy="2834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"/>
                <a:gridCol w="516331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Regole di variazione fra cicli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Senza evidenza nuova il valore resta quello del ciclo prima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Al massimo un punto per dimensione fra due cicli consecutivi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Ogni valore cambiato cita un'evidenza specifica, datata dopo il ciclo prima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Una riduzione ha lo stesso onere di un aumento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Confermare = riprendere le fonti; se non valgono più, il valore va rivisto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La copertura mediatica non è evidenza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Un numero nel razionale cita la sua fonte o è dichiarato come stima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99632" y="4205732"/>
            <a:ext cx="5532120" cy="21493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262626"/>
                </a:solidFill>
                <a:latin typeface="Calibri"/>
              </a:rPr>
              <a:t>Esito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(lo calcola lo script):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Nuovo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se l'ID non c'era,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Variato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se cambia una dimensione (anche da n.v.), altrimenti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Confermato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KRI: due per rischio, con soglie della Banca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2705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52627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Regola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Quanti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esattamente due per rischio del radar: uno di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Esposizione</a:t>
                      </a:r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 (quanto la Banca è esposta, di solito dato interno) e uno di </a:t>
                      </a:r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Evoluzione</a:t>
                      </a:r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 (quanto cresce il fenomeno)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Verso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valore crescente = peggio (altrimenti si usa il complemento)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60769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Soglie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attenzione e allerta, entrambe o nessuna, allerta ≥ attenzione; solo se una fonte le sostiene, altrimenti le fissa il validatore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rilevato nel ciclo; vuoto se non rilevato, mai ricopiato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51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Codice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NFR-nn-Kn stabile, mai riusato; In_Vigore = No chiude la serie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99632" y="1234440"/>
          <a:ext cx="5532119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37947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Quando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54864" marR="54864" marT="22860" marB="22860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valore sotto la soglia di attenzione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Ambra</a:t>
                      </a:r>
                    </a:p>
                  </a:txBody>
                  <a:tcPr marL="54864" marR="54864" marT="22860" marB="22860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attenzione fino all'allerta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Rosso</a:t>
                      </a:r>
                    </a:p>
                  </a:txBody>
                  <a:tcPr marL="54864" marR="54864" marT="22860" marB="22860" anchor="ctr">
                    <a:solidFill>
                      <a:srgbClr val="F8D7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allerta in su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Non rilevato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nessun valore nel ciclo (mai zero)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Soglie da definire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manca una soglia: non conta nel semaforo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SOGLIE INVERTITE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allerta &lt; attenzione: va rettificato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64024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Un KRI in rosso è il segnale forte F2 del livello di allerta; metà o più dei KRI in ambra o rosso è l'aggravante A3. Tendenza: ▲ peggiora sul ciclo prima.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Notizie: intensità, direzione, segnali e segnale critico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526279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Intensità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Su ciascuna delle nove categorie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nessun nesso con la categoria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nesso indiretto o solo teorico per la Banca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nesso diretto con un meccanismo di perdita presente nella Banca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nesso diretto e immediato: evento in corso su controparti, sistemi o prodotti che la Banca usa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368040"/>
            <a:ext cx="5532120" cy="2987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Direzione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solo quattro valori — Peggiorativo, Migliorativo, Neutro, Non rilevante (un sinonimo vale zero).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Segnali netti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= peggiorative − migliorative sullo stesso rischio in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4 settimane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soglia di direzione 2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→ ▲ ▼ e flag proposto, mai una variazione di score.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Una notizia ripresa da più testate è un solo segnale.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9632" y="1234440"/>
            <a:ext cx="553212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1234440"/>
            <a:ext cx="5532120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252728"/>
            <a:ext cx="53858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Segnale critico → proposta di ciclo straordinario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36776"/>
            <a:ext cx="534924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Solo se una notizia: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(a)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ha intensità 3 su un rischio con Impatto 4 o 5;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(b)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riporta un evento in corso presso la Banca, un suo fornitore o una controparte;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(c)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mostra una capacità nuova di una minaccia che rende superato il descrittore vigente.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Propongono A3 o A4;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decide la funzione di rischio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4114800"/>
            <a:ext cx="55321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4114800"/>
            <a:ext cx="553212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4133087"/>
            <a:ext cx="538581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Presidio delle categorie (foglio Notizie)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4517136"/>
            <a:ext cx="534924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AREA NON PRESIDIATA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notizie di intensità ≥ 2 su una categoria senza rischi nel registro.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In osservazione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nessun rischio nel radar, almeno uno in osservazione.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Presidiata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almeno un rischio nel radar.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Urgenza: i parametri della disuguaglianza di Mosca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852160" cy="232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38328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Termine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Significato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anni per decidere e avviare la mitigazione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0,25 (un trimestre)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8168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anni per completare la mitigazione: il maggiore fra l'orizzonte più lungo delle azioni del ciclo non respinte (3/6/12 mesi) e gli anni di adeguamento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dalle azioni; 1 se non ce ne sono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Z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anni prima che il rischio possa manifestarsi: metà della fascia della Prossimità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5→0 · 4→0,5 · 3→1,5 · 2→2,5 · 1→3,5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Margine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Z − (X + Y)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37960" y="1234440"/>
          <a:ext cx="5193791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0144"/>
                <a:gridCol w="3553647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Margine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Urgenza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sotto 0</a:t>
                      </a:r>
                    </a:p>
                  </a:txBody>
                  <a:tcPr marL="54864" marR="54864" marT="22860" marB="22860" anchor="ctr">
                    <a:solidFill>
                      <a:srgbClr val="F8D7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AGIRE ORA (X + Y &gt; Z): già in ritardo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da 0 a 1 anno</a:t>
                      </a:r>
                    </a:p>
                  </a:txBody>
                  <a:tcPr marL="54864" marR="54864" marT="22860" marB="22860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Agire entro l'anno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oltre 1 anno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Margine n anni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37960" y="3209544"/>
            <a:ext cx="5193792" cy="3145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Nel radar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Raggio = margine + 2, fra 0,6 e 6; angolo = settore della categoria; area = P × I.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Cerchi: margine 0 (Mosca, rosso), 1, 2, 3 anni.</a:t>
            </a:r>
          </a:p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Origine: Michele Mosca (2015), per la migrazione alla crittografia post-quantistica. L'urgenza è una graduatoria ancorata, non una previsione.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39896"/>
            <a:ext cx="5852160" cy="2615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Cambiando le tabelle di Parametri cambia il radar, senza toccare nessun prompt.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Gli anni di adeguamento validati vivono nell'anagrafica (colonna M) e restano correggibili a mano.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Livello di allerta: segnali forti, aggravanti e soglie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"/>
                <a:gridCol w="3872484"/>
                <a:gridCol w="110642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Segnali forti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AGIRE ORA (X + Y &gt; Z)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almeno un KRI in rosso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segnali netti delle notizie oltre la soglia (▲)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soglia 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63824"/>
          <a:ext cx="5532120" cy="2157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"/>
                <a:gridCol w="3872484"/>
                <a:gridCol w="110642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Aggravanti (contano solo con margine stretto)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Soglia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Probabilità × Impatto alta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12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A2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presidio dei controlli «Assente»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quota dei KRI in vigore in ambra o rosso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0,5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margine stretto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sotto 1 anno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99632" y="1234440"/>
          <a:ext cx="5532120" cy="2234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94560"/>
                <a:gridCol w="20574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Livello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Regola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Conseguenza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8168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Attivazione</a:t>
                      </a:r>
                    </a:p>
                  </a:txBody>
                  <a:tcPr marL="54864" marR="54864" marT="22860" marB="22860" anchor="ctr">
                    <a:solidFill>
                      <a:srgbClr val="F8D7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 o più segnali forti (soglia 2)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 comitato con un piano; se nasce nel settimanale, proposta di straordinario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Attenzione</a:t>
                      </a:r>
                    </a:p>
                  </a:txBody>
                  <a:tcPr marL="54864" marR="54864" marT="22860" marB="22860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1 segnale forte, oppure margine sotto 1 anno con almeno un aggravante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l'owner conferma azioni e KRI; il rischio va nel report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Monitoraggio</a:t>
                      </a:r>
                    </a:p>
                  </a:txBody>
                  <a:tcPr marL="54864" marR="54864" marT="22860" marB="22860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gli altri casi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ciclo trimestrale ordinario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99632" y="3651504"/>
            <a:ext cx="5532120" cy="270357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1">
                <a:solidFill>
                  <a:srgbClr val="595959"/>
                </a:solidFill>
                <a:latin typeface="Calibri"/>
              </a:rPr>
              <a:t>Il livello non è uno score: i segnali netti cambiano ogni settimana e con loro il livello. Il tema del supervisore non alza il livello (è evidenziato con ◆).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Registro unico: chi entra nel radar di Mosca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532119" cy="2843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39"/>
                <a:gridCol w="22402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Parametro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Capienza del radar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15 (fino a 20)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Soglia di Prossimità per entrare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2 (entro 3 anni)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Soglia di Probabilità per entrare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2 (non solo teorico)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Cicli sotto la soglia prima di uscire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2 (un ciclo «Radar, in uscita»)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262626"/>
                          </a:solidFill>
                          <a:latin typeface="Calibri"/>
                        </a:rPr>
                        <a:t>Rischi in osservazione al massimo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62626"/>
                          </a:solidFill>
                          <a:latin typeface="Calibri"/>
                        </a:rPr>
                        <a:t>20 (fisso)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99632" y="1188720"/>
            <a:ext cx="553212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La regola (la applica lo script a ogni ciclo e validazione)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Candidato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Prossimità ≥ 2 e Probabilità ≥ 2.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Sempre nel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, anche sotto le soglie: un rischio AGIRE ORA, un tema del supervisore, un rischio che il validatore mette nel radar con la motivazione.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Mai nel radar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un rischio che il validatore mette in osservazione con la motivazione.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Oltre la capienza: prima le eccezioni, poi i più alti per score; gli altri restano «fuori per capienza».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Chi scende resta un ciclo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«Radar, in uscita»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chi sale entra subito, con KRI e azioni.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Rischi in osservazione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Calibri"/>
              </a:rPr>
              <a:t>Stessa scala e stesso score;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niente KRI né azioni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; rivalutati solo con evidenza nuova; con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orizzonte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in anni e </a:t>
            </a:r>
            <a:r>
              <a:rPr sz="1200" b="1" i="0">
                <a:solidFill>
                  <a:srgbClr val="262626"/>
                </a:solidFill>
                <a:latin typeface="Calibri"/>
              </a:rPr>
              <a:t>segnale di avvicinamento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06824"/>
            <a:ext cx="5532120" cy="204825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Stato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Radar · Radar, in uscita · Osservazione · Dismesso.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Movimento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: Entrato · Uscito.</a:t>
            </a:r>
          </a:p>
          <a:p>
            <a:pPr marL="164592" indent="-146304">
              <a:spcAft>
                <a:spcPts val="400"/>
              </a:spcAft>
              <a:buChar char="•"/>
            </a:pPr>
            <a:r>
              <a:rPr sz="1200" b="1" i="0">
                <a:solidFill>
                  <a:srgbClr val="262626"/>
                </a:solidFill>
                <a:latin typeface="Calibri"/>
              </a:rPr>
              <a:t>Decisione sullo stato</a:t>
            </a:r>
            <a:r>
              <a:rPr sz="1200" b="0" i="0">
                <a:solidFill>
                  <a:srgbClr val="262626"/>
                </a:solidFill>
                <a:latin typeface="Calibri"/>
              </a:rPr>
              <a:t> del validatore: Automatico (vale la regola) · Radar · Osservazione.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Altri parametri e limiti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51" cy="468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6564"/>
                <a:gridCol w="4858140"/>
                <a:gridCol w="3849847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Parametro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Valore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Dove / chi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Presidio dei controlli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Non verificato · Adeguato · Parziale · Assente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anagrafica, colonna O · validatore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Attenzione del supervisore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Sì · No (◆)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anagrafica, colonna N · validatore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una funzione, mai una persona; «Da assegnare» per un rischio nuovo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anagrafica, colonna L · validatore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Azioni per rischio · orizzonte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da 1 a 5 · 3, 6 o 12 mesi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A1 propone, il validatore delibera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Anni di adeguamento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0-30 o vuoto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A1 stima, il validatore decide (colonna M)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Motivazione in validazione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almeno 10 caratteri, con l'evidenza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obbligatoria se cambia un valore, se si respinge, con ⚑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Note dell'analista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 massimo 600 caratteri (sintesi di A7)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Quadro, cella gialla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Finestre temporali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segnali netti e notizie: 4 settimane · grafici settimanali: 12 settimane · trend: 8 cicli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Parametri, scritte dallo script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Capienza dell'anagrafica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20 posti (Rischio_01..20 per A7)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struttura del template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Calibri"/>
                        </a:rPr>
                        <a:t>Istruzioni degli agenti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al massimo 8.000 caratteri ciascuna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Calibri"/>
                        </a:rPr>
                        <a:t>limite di Agent Builder, controllato da componi_prompt.py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I PARAMETRI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Valori ammessi e codici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760719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40233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Valori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Esito del rischio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Nuovo · Variato · Confermato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Validazione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Da validare · Accettato · Rettificato · Respinto (in riapertura: Invariato, … (riapertura))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Stato di un'azione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Proposta · Approvata · Respinta · In corso · Completata · Annullata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Stato di un KRI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Verde · Ambra · Rosso · Non rilevato · Soglie da definire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Tipo di KRI · di fonte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Esposizione · Evoluzione · Interna · Esterna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Segnale di una notizia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Peggiorativo · Migliorativo · Neutro · Non rilevante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Livello di allerta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Attivazione · Attenzione · Monitoraggio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Urgenza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AGIRE ORA · Agire entro l'anno · Margine n anni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46520" y="1234440"/>
          <a:ext cx="5285231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4743"/>
                <a:gridCol w="3280488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Oggetto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Codice</a:t>
                      </a:r>
                    </a:p>
                  </a:txBody>
                  <a:tcPr marL="54864" marR="54864" marT="22860" marB="22860" anchor="ctr">
                    <a:solidFill>
                      <a:srgbClr val="1F3864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Ciclo trimestrale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AAAAQn (2026Q3)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Ciclo straordinario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AAAAQn-Sk (2026Q4-S1)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Settimana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il suo lunedì, AAAA-MM-GG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Rischio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NFR-nn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KRI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NFR-nn-Kn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Azione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&lt;ciclo&gt;-NFR-nn-An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Notizia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N-AAAAMMGG-nn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Fonte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FNT-nn · MAN</a:t>
                      </a:r>
                    </a:p>
                  </a:txBody>
                  <a:tcPr marL="54864" marR="54864" marT="22860" marB="22860" anchor="ctr">
                    <a:solidFill>
                      <a:srgbClr val="F2F2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262626"/>
                          </a:solidFill>
                          <a:latin typeface="Calibri"/>
                        </a:rPr>
                        <a:t>Categoria · driver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62626"/>
                          </a:solidFill>
                          <a:latin typeface="Calibri"/>
                        </a:rPr>
                        <a:t>9.x · DRV-xxx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Calibri"/>
              </a:rPr>
              <a:t>CONCLUSIONE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500" b="1" i="0">
                <a:solidFill>
                  <a:srgbClr val="1F3864"/>
                </a:solidFill>
                <a:latin typeface="Calibri"/>
              </a:rPr>
              <a:t>In sintesi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024128"/>
            <a:ext cx="11274552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Horizon Scan NFR · agenti, report e parametri ·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47395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Calibri"/>
              </a:rPr>
              <a:t>69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164592" cy="7772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98448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Gli agenti giudicano e scrivono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A1 e A8 valutano, A3 legge le notizie, A4 dà pareri, A5 controlla, A6 e A7 spiegano. Nessuno calcola né decide.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64592" cy="7772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Python controlla e scrive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791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un comando per ogni passo; si ferma prima di sbagliare, mai dopo; tiene backup e archivio.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00984"/>
            <a:ext cx="164592" cy="7772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73552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Excel calcola e mostra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66744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score, urgenza di Mosca, livello di allerta, stato dei KRI; report al comitato e viste di lavoro.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88536"/>
            <a:ext cx="164592" cy="7772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61104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Le persone decidono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54296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il validatore accetta, rettifica o respinge ogni proposta; la funzione di rischio fissa i parametri.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76088"/>
            <a:ext cx="164592" cy="7772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48656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1F3864"/>
                </a:solidFill>
                <a:latin typeface="Calibri"/>
              </a:rPr>
              <a:t>Ogni numero ha un perché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41848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nelle schede: valori validati, documenti, cambiamenti, azioni e KRI con l'effetto atteso.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