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65176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Horizon Scan NFR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060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Il sistema di agenti per i rischi non finanziari emergenti:</a:t>
            </a:r>
          </a:p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che cosa fanno gli agenti, che cosa dicono i report, con quali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C000"/>
                </a:solidFill>
                <a:latin typeface="Calibri"/>
              </a:rPr>
              <a:t>Esempi tratti dal registro della demo (ciclo straordinario 2026Q4-S1, dati simulati) · stato del pacchetto al 16/10/2026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60350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BFCFE6"/>
                </a:solidFill>
                <a:latin typeface="Calibri"/>
              </a:rPr>
              <a:t>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INTRODUZIONE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Di che cosa parliamo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99032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sistema in breve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55648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componenti, cicli, principi, chi fa che cosa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50008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50008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3172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88336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agente per slide: che cosa fa, quando si usa, quale comando Python lo precede e lo segue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82696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82696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64408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Le schede dei rischi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1024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che cosa servono, come sono impostate, il significato di ogni informazione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15384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15384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7096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report trimestrale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53712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dal Quadro d'insieme a ogni foglio del registro Excel: uso e significato di ogni dato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48072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48072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29784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 parametri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86400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gerarchia di rischio, scale, pesi, soglie, urgenza, livello di allerta, valori ammessi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sistema in breve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Componenti, ritmi di lavoro, principi.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sistema in una pagina: tre ritmi di lavoro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lunedì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raccogli_notizie.py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notizie dai feed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A3 Interim Update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le notizie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79" y="1929384"/>
            <a:ext cx="301753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settimanale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scrive il NewsLog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8935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 (facoltativa)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il validatore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19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trimestre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baseline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fotografia + allegato di A1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9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A1 Horizon Scanner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i rischi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41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precontrollo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7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15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A5 Challenger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13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601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trimestrale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controlla e scrive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99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7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Validazione + valida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accetta, rettifica, respinge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9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schede-input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dati validati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41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29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65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A6 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testi per chi legge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727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15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Schede_&lt;ciclo&gt;.xlsx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13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601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37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report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PDF al comitato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99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22408" y="3538728"/>
            <a:ext cx="0" cy="11887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35608" y="3657600"/>
            <a:ext cx="868680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35608" y="3657600"/>
            <a:ext cx="0" cy="164591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4617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Quando serve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A4 News Assessor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parere su una notizia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79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A7 Assistente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il perché in chat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5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A8 Evento critico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ciclo straordinario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51775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riapri · dismetti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correzioni e uscite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01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37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celle gialle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presidio, owner, supervisore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4" name="TextBox 63"/>
          <p:cNvSpPr txBox="1"/>
          <p:nvPr/>
        </p:nvSpPr>
        <p:spPr>
          <a:xfrm>
            <a:off x="84124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Agente Copilot (giudizio, testi)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624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459028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Comando Python (controlli, scrittura, calcolo)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91855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70" name="TextBox 69"/>
          <p:cNvSpPr txBox="1"/>
          <p:nvPr/>
        </p:nvSpPr>
        <p:spPr>
          <a:xfrm>
            <a:off x="8339327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Persona (decisione)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Sette principi che reggono tutto il disegno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Giudizio all'agente, calcolo al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agenti danno valori 1-5, fonti e testi. Score, esito, urgenza e livello di allerta li calcola il foglio: una media fatta a mente sbaglia in modo plausibile.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storia non si riscrive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RiskRegister, Azioni, KRI e NewsLog crescono solo in coda: una riga per soggetto per ciclo. Ogni ciclo lascia un Excel congelato in archivio.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Solo un ciclo cambia uno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trimestrale, o lo straordinario deciso dalla funzione di rischio. Le notizie settimanali danno segnali, mai variazioni.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427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regola ha un controllo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Dove un vincolo si può scrivere come regola, lo verifica lo script; il giudizio resta ad A5 (facoltativo) e al validatore.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persona valida sempre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Nessuna valutazione vale finché il validatore non la accetta, la rettifica o la respinge. Il trimestre dopo non parte prima.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91840" y="37947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499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proposta resta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rettifica conserva proposta dell'agente, valore deciso, motivazione, chi e quando: è la traccia di audit e la base per migliorare gli agenti.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regola, un posto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Scale, tassonomia, fonti e colonne vivono in un solo file; prompt, Excel e controlli ne derivano e il collaudo verifica che siano allineati.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Chi fa che cosa: agenti, Python, Excel, persone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7455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49"/>
                <a:gridCol w="5683107"/>
                <a:gridCol w="348319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NON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Agenti Copilot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(A1, A3, A4, A5, A6, A7, A8)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Leggono documenti, notizie e siti; danno i valori 1-5 con le fonti; scrivono razionali, azioni, KRI, sintesi; rispondono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scrivono in Excel, non salvano file, non calcolano score né urgenza, non decidono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Script Python sul PC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(esegui_ciclo_locale.py, raccogli_notizie.py)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Prepara gli allegati per gli agenti; controlla schema e regole (FERMATO se un difetto renderebbe incoerente il registro); fa il backup, scrive, ricalcola Excel, archivia; applica la regola del radar; produce schede e PDF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giudica la plausibilità dei valori (controllo C4): è giudizio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Registro Excel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(NFR_Registro.xlsx)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Conserva la storia; calcola con le formule score composito, Δ, urgenza di Mosca, livello di allerta, stato dei KRI, segnali netti; mostra report e viste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Nessuna costante nascosta: pesi e soglie sono celle gialle di Parametri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Persone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(analista, validatore, funzione di rischio)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L'analista lancia agenti e comandi; il validatore decide ogni proposta nella griglia; la funzione di rischio fissa parametri, decide gli straordinari e le dismissioni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fa ogni agente quando viene usato,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e quale comando Python lo precede e lo segue.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Gli agenti in una tabella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49" cy="3529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597"/>
                <a:gridCol w="3666520"/>
                <a:gridCol w="1374945"/>
                <a:gridCol w="2658227"/>
                <a:gridCol w="18332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Agente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gli si dà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restituisce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A1 Horizon Scanner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valuta i rischi, censisce i nuovi, propone azioni e due KRI per rischio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trimestre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Input_A1_&lt;ciclo&gt;.txt; legge da solo cartelle e siti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A3 Interim Update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collega le notizie della settimana ai rischi, intensità sulle nove categorie, flag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News_Inbox, siti e baseline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A3_&lt;lunedì&gt;.json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A4 News Assessor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su UNA notizia rispetto al registro, senza numeri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notizia (testo, link, file)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in sei sezioni,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A5 Challenger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nove controlli C1-C9 sull'output di 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trimestre, facoltativo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A1_&lt;ciclo&gt;.json e Baseline_corrente.json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A5_&lt;ciclo&gt;.json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A6 Schede dei rischi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testi delle schede sui dati validati, per chi non conosce il tema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solo Schede_input_&lt;ciclo&gt;.json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A6_&lt;ciclo&gt;.json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A7 Assistente del registro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spiega il perché di valori, urgenza, livello, temi non censiti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Kernel\Spiegazioni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risposte in chat; sintesi per il Quadro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A8 Evento critico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analisi dell'evento, rivaluta i rischi indicati, censisce 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Input_A1_&lt;AAAAQn-Sk&gt;.txt e documenti dell'evento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A8_&lt;AAAAQn-Sk&gt;.json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Regole per tutti: il messaggio aggiunge indicazioni per quella volta, non cambia le regole dell'agente; per rifare una valutazione si apre una chat nuova; gli agenti JSON rispondono solo con il JSON. Ogni prompt sta nel limite di 8.000 caratteri di Agent Builder.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A1 Horizon Scanner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cuore del trimestre: la valutazione dei rischi, con le fonti e il perché di ogni numero.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Valuta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rischio del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Impatto, Probabilità, Prossimità (1-5) e Velocity solo se le fonti ne documentano i tempi; stima gli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strutturale quando servono.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Rivaluta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trova evidenza nuova;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lontani (con orizzonte e segnale di avvicinamento).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valore cita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(data, tipo Interna/Esterna, rilevanza 1-3) e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razionale in parti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RISCHIO, IMPATTO, PROBABILITA, PROSSIMITA, VELOCITY,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rischi del radar propone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1-5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orizzonte 3/6/12 mesi)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due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ed evoluzione), con il perché e l'EFFETTO atteso;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rilegge i valori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del ciclo prima.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Registra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fenomeni considerati e non censiti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il motivo;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commento per il comitato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(MESSAGGIO / DECISIONI).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Prima di rispondere verifica il proprio output con i controlli C1-C9 e la guida di scrittura contenuti nell'allegato.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messaggio «Esegui il ciclo».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rinforzato (leggere tutte le cartelle), documenti precisi, tema da verificare, fenomeno da osservare, simulazione di un ciclo passato, correzione.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Baseline_corrente.json e allegato (baseline + controlli + guida di scrittura).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(facoltativo, senza Excel) →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controlli, backup, scrittura, ricalcolo, regola del radar, archivio, knowledge di A7.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FERMATO: si incolla ad A1 il file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Correzione_A1_&lt;ciclo&gt;.txt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si rilancia.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 la validazione e il comando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calcola score, esito (Nuovo/Variato/Confermato), urgenza né livello; non muove un valore di più di un punto; non cambia senza un'evidenza datata.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Precontrollo e scrittura (A2): i passi Python del trimestre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Non sono agenti: sono il codice che si mette fra la risposta di A1 e il registro.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precontrollo (facoltativo, pochi secondi, non scrive nulla)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Schema JSON dell'output, controlli meccanizzati C1, C2, C3, C5, C7, C9 (con le osservazioni di C5, C6, C8) e parti del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Divide i rilievi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correggere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(fermerebbero il ciclo)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verificare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(andranno in validazione).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il messaggio di correzione per A1 e l'impronta dell'output (serve alla prova di Copilot Studio).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trimestrale (la scrittura, detta A2)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Rifà gli stessi controlli: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per i difetti di integrità (schema, C1 rischio mancante o categoria diversa, C2 variazioni che non tornano, C7 e identificativi dei KRI).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C3, date di C5, coppia e soglie dei KRI (C9) e i Bloccanti di A5 diventano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 ⚑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nella griglia di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Calcola esito e «da → a» delle variazioni, assegna gli ID di KRI e azioni, applica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regola del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(radar o osservazione).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Backup, scrittura, ricalcolo di Excel, verifica zero errori di formula, Excel congelato del ciclo, cartella Spiegazioni per A7.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 (e A5 se usato):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precontrollo --payload A1_&lt;ciclo&gt;.json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trimestrale --payload A1_&lt;ciclo&gt;.json [--challenger A5_&lt;ciclo&gt;.json]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Codici di uscita: 0 eseguito; 1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(registro non toccato, si corregge e si rilancia); 2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ERRORE TECNICO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(il messaggio dice se prima o dopo il salvataggio).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registro deve essere chiuso: Excel lavora invisibile.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trimestre non parte se quello prima non è validato.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giudica la plausibilità dei valori (C4): la giudicano A5, se usato, e il validatore.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A5 Challenger (facoltativo)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secondo agente che controlla A1 con nove controlli, su un input ristretto.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C1 Completezza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ogni rischio del radar valutato, stessa categoria, nessun ID ripetuto.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C2 Variazioni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una voce per ogni valore cambiato, e solo per quelli.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C3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data dopo il ciclo prima e non dopo la data di riferimento; evidenza specifica; al massimo un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C4 Plausibilità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punteggi corrispondono ai descrittori dati razionale e fonti; un rischio = un meccanismo (solo giudizio: nessun codice lo sostituisce).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C5 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rilevanza coerente; P5 o Prossimità 4-5 con una fonte di rilevanza alta; nessuna fonte futura.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C6 Deriva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aumenti dallo stesso fatto ripetuto o su più di metà dei rischi senza fonti nuove.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C7 Rilettura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C8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pertinente, non ripetuta)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C9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(coppia esposizione/evoluzione, soglie, fonte dati).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Esito Approvato o Da rivedere, con i rilievi Bloccante / Osservazione.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A1, chat nuova, allegati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A1_&lt;ciclo&gt;.json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Baseline_corrente.json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«Esegui i nove controlli».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 rifatto ogni volta che A1 viene rifatto; mai per le settimane.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Prima: (facoltativo)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che segnala già la parte meccanizzabile.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--challenger A5_&lt;ciclo&gt;.json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 rilievi vanno nella colonna Segnalazioni della griglia; un Bloccante rende obbligatoria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sintesi di A5 compare nel Quadro e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ferma il ciclo (D-71): i suoi rilievi li decide il validatore. Non corregge A1.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A3 Interim Update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Ogni lunedì: le notizie della settimana lette contro il registro, senza toccare gli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Prende le notizie degli ultimi 7 giorni da tre canali: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News_Inbox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(feed raccolti e file Manuali),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pubblici dell'agente, cartelle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Analisi_Interne / Esterne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Più articoli sullo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 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codice fonte del catalogo (FNT-nn) o MAN.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notizia: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0-3 su tutte e nove le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direzione (Peggiorativo, Migliorativo, Neutro, Non rilevante).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del radar o in osservazione; nessuno → possibile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un descrittore potrebbe non essere più quello vigente (o un rischio in osservazione realizza il suo segnale).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con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Sintesi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settimana: notizie rilevanti, aree non presidiate, direzioni per categoria.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«Esegui l'aggiornamento settimanale» (anche prompt schedulato). Nessun allegato: legge la baseline in knowledge.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correzione dopo un fermo, insistere su un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raccogli_notizie.py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(lunedì alle 7, Utilità di pianificazione) → News_Inbox\&lt;lunedì&gt;\Raccolta_&lt;data&gt;.txt; a mano i file in Manuali.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settimanale --payload A3_&lt;lunedì&gt;.json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NewsLog senza duplicati, Sintesi_Settimane, segnali netti, aree non presidiate, proposta di straordinario a video.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Facoltativa: validazione delle notizie (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&lt;lunedì&gt;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score, non propone numeri, non decide lo straordinario: lo propone.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A4 News Assessor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Su richiesta di un analista: un parere su una sola notizia, ancorato alla valutazione deliberata.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sempre con sei sezioni, in quest'ordine: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1. Il fatto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due o tre frasi, con fonte e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2. Impatto sulle 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tabella con intensità 0-3, direzione e motivazione per ognuna.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3. Rischi del registro toccati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ID, nome, score vigenti, quale descrittore la notizia mette in discussione; altrimenti «Area non presidiata».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4. Coerenza con la valutazione deliberata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conferma, indebolisce o non tocca (un segnale non è una tendenza).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5. Cosa suggerisco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verifiche per la funzione di rischio; in testa «PROPOSTA DI CICLO STRAORDINARIO» se vale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6. Limiti del parere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che cosa non sa, quali fonti mancano.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Distingue il fatto dalla propria interpretazione; non nomina persone.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«Dammi il parere su questa notizia: [testo o link]».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rispetto a un rischio preciso [NFR-nn]; con attenzione a una categoria [9.n].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Nessun passo Python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il parere resta in chat, non entra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la notizia è rilevante deve entrare nel prossimo aggiornamento settimanale (A3 + settimanale).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propone uno straordinario: decide la funzione di rischio, poi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 --straordinario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A8.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Mai una cifra nuova: niente score, stime di perdita o probabilità numeriche. Non scrive nel registro.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A6 Schede dei rischi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Dopo la validazione: rende le schede leggibili a chi non conosce il tema, senza aggiungere numeri.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Riceve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dati validati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 (valori, fonti, razionale in parti di A1, azioni, KRI, urgenza, storia).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per ogni rischio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descrizione estesa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fenomeno in termini di rischio (causa → evento → danno).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Spiega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perché quel valore,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Dice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 che cosa serve ogni fonte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(«a sostegno di»).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Non valuta: spiega i valori che il validatore ha già deciso.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Senza A6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schede escono lo stesso con i testi di A1 dal registro (il razionale è già diviso in parti, D-68): A6 è un miglioramento della leggibilità, non un passo obbligato.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Agente A6, allegato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Schede_input_&lt;ciclo&gt;.json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«Scrivi le schede».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Variazione: correzione dopo un fermo del comando schede.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schede-input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Schede_input_&lt;ciclo&gt;.json (si ferma se il ciclo non è validato).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schede --payload A6_&lt;ciclo&gt;.json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controlla stessi rischi, quattro dimensioni, stesse fonti,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produce Schede_&lt;ciclo&gt;.xlsx.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Senza A6: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senza payload.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valori, fonti o urgenza; un numero che non sta nei dati del rischio ferma il comando.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A7 Assistente del registro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 chat, quando serve: il perché delle valutazioni, distinguendo registrato, calcolato e letto.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a domande come: perché NFR-01 è primo? perché ha Prossimità 5, da quale documento? perché è AGIRE ORA? perché Attenzione e non Attivazione? che cosa ha cambiato il validatore? perché il tema X non è un rischio? perché NFR-14 è in osservazione?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Tiene separati: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(motivazioni di A1, decisioni del validatore),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calcolato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(score, urgenza, livello)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sua lettura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temi non censiti usa i «fenomeni considerati e non censiti» di A1 e i rischi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richiesta scrive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per il Quadro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600 caratteri) da incollare nella cella gialla Note dell'analista.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Variazioni: «spiegamelo come a un membro del comitato, in cinque righe»; confronto fra due rischi.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Nessun allegato, nessun messaggio fisso: si fanno domande.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Legge la cartella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Kernel\Spiegazioni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Ciclo.txt e Rischio_01..20.txt, sempre con gli stessi nomi.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 file della knowledge li riscrivono da soli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dismetti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nessun comando dedicato.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nota incollata nel Quadro va nel PDF del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al ciclo dopo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la archivia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propone valori nuovi e non modifica nulla (D-76): i valori si cambiano con riapri + valida, i testi a mano.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A8 Evento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 ciclo straordinario deciso dalla funzione di rischio: un evento che non può aspettare il trimestre.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Legge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 intero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 documenti dell'evento e scrive 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 dell'evento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fatto, catena causale, rischi toccati e non toccati, documenti, limiti.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Rivaluta solo i rischi indicati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dalla funzione di rischio, con le stesse regole di A1 (al massimo un punto rispetto al periodo validato prima, evidenza datata).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che l'evento crea; senza rischi indicati lo straordinario è di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solo censimento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Rilegge i valori dei KRI dei rischi rivalutati.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 rischio vicino che l'evento tocca ma non è indicato lo segnala al validatore: non lo riscrive.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periodo si chiama come il trimestre chiuso più -S1, -S2… (es. 2026Q4-S1) e conta come ciclo: il trimestre dopo parte dai suoi valori.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Input_A1_&lt;AAAAQn-Sk&gt;.txt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i documenti dell'evento: «Esegui il ciclo straordinario».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Lo propongono A3 o A4 (segnale critico) o l'analista; decide la funzione di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 --straordinario --rischi NFR-.. --motivo "…" --decisore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decisione archiviata e allegato.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precontrollo (facoltativo),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--payload A8_&lt;…&gt;.json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validazione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schede e report come nel trimestre.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L'analisi dell'evento va in Sintesi_Cicli (il fatto) e nella knowledge di A7.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sceglie quali rischi rivalutare; l'analisi dell'evento spiega, non porta valori.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 comandi Python, uno per 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0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901"/>
                <a:gridCol w="2474901"/>
                <a:gridCol w="632474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Comando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raccogli_notizie.py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 (automatico)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scarica i feed delle fonti approvate in News_Inbox\&lt;lunedì&gt;\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baseline [--straordinario]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inizio trimestre /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fotografia del registro validato + allegato di A1 (baseline, controlli, guida)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precontrollo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A1, facoltativo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controlli senza Excel, messaggio di correzione per 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trimestrale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 (e A5)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controlla, scrive il ciclo, regola del radar, archivio, knowledge di A7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settimanale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scrive le notizie, segnali netti, sintesi della 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valida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griglia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applica le decisioni del validatore, Storico_Validazioni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griglia · riapri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quando serve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ricostruisce il foglio Validazione · riapre un ciclo già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schede-input · schede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dati per A6 · controlli su A6 e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report [--con-lavoro]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PDF del report al comitato dall'Excel com'è ora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dismetti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decisione della funzione di rischio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toglie un rischio dal registro; la storia resta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inizializza · aggiorna-registro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primo uso · pacchetto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 vuoto · porta il registro sul template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Prima di ogni scrittura lo script controlla il formato e le regole, fa una copia di sicurezza, scrive, ricalcola Excel, verifica che non ci siano errori di formula, salva e archivia una copia con nome proprio.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trimestre passo per passo: chi fa che cosa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7040880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280160"/>
                <a:gridCol w="53949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Passo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Registro, riga 4: il trimestre prima è «Ciclo validato»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baseline → Input_A1_&lt;ciclo&gt;.txt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Baseline_corrente.txt nella library Kernel (per A3 e A4)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«Esegui il ciclo» con l'allegato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precontrollo e A5, entrambi facoltativi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trimestrale → ciclo scritto (o FERMATO + correzione)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griglia del foglio Validazione, poi valida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schede-input, A6, schede →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report → Report_comitato_&lt;ciclo&gt;.pdf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26679" y="1234440"/>
            <a:ext cx="40050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234440"/>
            <a:ext cx="400507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252728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lunedì (≈ 20 minuti)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19" y="1636776"/>
            <a:ext cx="3822191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raccogli_notizie.py (automatico alle 7)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file a mano in Manuali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A3 → A3_&lt;lunedì&gt;.json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settimanale → notizie nel registro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facoltativo: valida le notizie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Nessuno score cambia di settimana in settimana.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3749039"/>
            <a:ext cx="400507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3749039"/>
            <a:ext cx="4005072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3767327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Ciclo straordinario (D-75, D-77)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19" y="4151376"/>
            <a:ext cx="3822191" cy="2148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deciso dalla funzione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baseline --straordinario con rischi, motivo, decisore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A8 con i documenti dell'evento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trimestrale, validazione, schede, report come nel trimestre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Rivaluta solo i rischi indicati; gli altri restano validati.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Le schede dei rischi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Un file a parte, Schede_&lt;ciclo&gt;.xlsx: una scheda per ogni rischio del radar,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con il perché di ogni numero.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 che cosa servono 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 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Comitato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allegato al report, spiega i rischi uno per uno.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Owner del 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si chiede alla sua funzione (azioni, KRI, scadenze) e perché.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Validatore e audit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su quali documenti poggia ogni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Chi non conosce il tema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fenomeno raccontato in termini di rischio, senza gergo.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Il ciclo dopo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memoria del perché, quando i valori cambiano.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128016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garantiscono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Solo valori validati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si producono dopo la validazione, dal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Numeri, fonti e urgenza vengono dal registro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nessun agente li cambia.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Con A6,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stessi rischi, quattro dimensioni, stesse fonti 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punteggio ha accanto il suo perché e i documenti (D-68).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azione e ogni KRI hanno il perché e l'effetto atteso.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28016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Come si producono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schede-input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→ dati validati per A6.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A6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scrive i testi (facoltativo).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e produce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Schede_&lt;ciclo&gt;.xlsx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in Archivio_Cicli\Cicli\&lt;ciclo&gt;.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foglio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Indice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un foglio per rischio, nell'ordine della classifica (score composito).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Pronte per la stampa: A4 verticale, intestazione «Uso interno», pagine numerate.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Senza A6: testi di A1 dal registro.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L'indice delle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Schede_In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315200" cy="361619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01000" y="1188720"/>
            <a:ext cx="3749039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Una riga per rischio, dal più alto per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posizione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collegamento alla scheda (clic).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nome breve;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composito 1-5 validato.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Mosca: AGIRE ORA (rosso), Entro l'anno (ambra), Margine n anni (grigio).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allerta: Attivazione, Attenzione,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ciclo: Nuovo, Variato, Confermato.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responsabile.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testa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Ciclo, data dei dati, stato di validazione, origine dei testi (A6 o A1).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fondo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legenda di tutte le abbreviazioni.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Com'è impostata una scheda: dall'alto in basso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7" name="Picture 6" descr="Scheda_NFR0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023360" cy="508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Scheda_NFR0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3833172" cy="28346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154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Intestazione: posizione, ID, nome, score, variazione, urgenza, livello.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Classificazione: categoria, driver, owner, presidio, ◆, esito.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Il rischio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Valutazione dimensione per dimensione, con la formula dello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Urgenza e livello di allerta.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7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Cosa è cambiato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8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Andamento negli ultimi trimestri.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9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10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Azioni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KRI in vigore, ognuno con perché ed effetto atteso.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Legenda.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160520"/>
            <a:ext cx="38404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Esempio: NFR-01 «Frodi su pagamenti istantanei abilitate da AI generativa», ciclo straordinario 2026Q4-S1, testi di A1 (senza A6). Lo stesso ordine vale per tutte le schede: chi legge sa sempre dove trovare un'informazione.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Intestazione e classificazione: che cosa significa ogni dato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855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4766477"/>
                <a:gridCol w="430816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significa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Perché è importante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Posizione · ID · Nome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ordine per score composito; codice stabile NFR-nn, uguale in tutti i cicli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si ritrova lo stesso rischio in classifica, radar, registro e storia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Score composito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media pesata delle dimensioni valutate, 1-5 (5 = peggiore)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la priorità: quanto è grande il rischio nel complesso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Variazione ▲ ▼ ● /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differenza di score rispetto al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dice subito se il rischio sale, scende o è fermo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esito della disuguaglianza di Mosca: AGIRE ORA, Entro l'anno,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agire, indipendente dalla grandezza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Attivazione, Attenzione, Monitoraggio, calcolato dal 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si fa adesso: comitato con un piano, verifica dell'owner, ciclo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categoria della tassonomia interna (9.x) · perché oggi è emergente (DRV-…)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dove ricade la perdita e che cosa la alimenta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 · Presidio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funzione responsabile · giudizio della Banca sui controlli (Adeguato, Parziale, Assente, Non verificato)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chi risponde; il presidio non entra nello score ma pesa sul livello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◆ 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tema nelle priorità di BCE, EBA o Banca d'Italia, indicato dal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porta il rischio nel radar anche sotto le soglie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Esito ·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Nuovo, Variato (cambia una dimensione) o Confermato, calcolato dallo script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cosa è successo nel ciclo; i valori sono quelli validati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rischio, il razionale e la valutazione dimensione per dimensione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_Scheda_NFR01_1_0_0.08_1_0.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6327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Il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meccanismo di perdita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succede, a chi, con quale danno. Con A6 diventa la descrizione estesa.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Razionale: il fenomeno in termini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parte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del razionale di A1: causa → evento → danno per la Banca. Fa capire perché è un rischio della Banca e non solo una notizia.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Valutazione, dimensione per dimensione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Impatto, Probabilità, Prossimità, Velocity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valore validato (colore più scuro = peggiore; n.v. = non valutata) e, accanto,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perché quel valore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Sotto, in corsivo,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la formula dello score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 pesi in vigore (es. 4,65 = (0,35×4 + 0,25×5 + 0,20×5 + 0,20×5) / 1,00); senza Velocity i pesi si ridistribuiscono.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chi legge può verificare ogni numero contro la rubrica e i documenti, senza fidarsi dell'agente.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Urgenza, livello di allerta, cambiamenti e andamento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_Scheda_NFR01_1_0_0.36_1_0.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30042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Urgenza (Mosca) e livello di allerta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motivo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(es. «AGIRE ORA; KRI in rosso»): fondo rosso, giallo o verde.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conto di Mosca per esteso: tempo necessario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X + 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(decidere + mitigare, con gli eventuali anni di adeguamento) contro tempo disponibile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(dalla Prossimità);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 Se negativo: AGIRE ORA.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Cosa è cambiato nel ciclo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Per ogni valore cambiato: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 → 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l'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evidenza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la sua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altrimenti «confermato sulle fonti del ciclo precedente».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Andamento negli ultimi trimestri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Le quattro dimensioni e lo score per ciclo (straordinari compresi) e il grafico dello score su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scala fissa 1-5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si vede se un'urgenza viene dalla vicinanza (Z piccolo) o dalla lentezza della mitigazione (Y grande), e se il rischio cresce nel tempo.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Fonti, azioni e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7" name="Picture 6" descr="Scheda_NFR0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405720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234440"/>
          <a:ext cx="5559551" cy="2152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822"/>
                <a:gridCol w="437472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Blocco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Informazioni e 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riferimento, data, tipo (Interna/Esterna), rilevanza per la previsione (Alta, Media, Bassa); con A6 anche «a sostegno di» quale valore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che cosa fare, owner (una funzione), orizzonte 3/6/12 mesi, stato (Proposta, Approvata, In corso, Completata…) e ciclo;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 in vigore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[tipo] nome (unità), valore del ciclo, soglie attenzione / allerta, valore del ciclo prima, stato Verde/Ambra/Rosso;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 lo misuriamo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ed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569589"/>
            <a:ext cx="5559552" cy="27854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Importanza: le fonti dicono quanto è solido il giudizio; le azioni sono gli impegni chiesti alle funzioni e alimentano la Y di Mosca; i KRI dicono come la Banca saprà, nei cicli dopo, se il rischio cresce (esposizione) e se il fenomeno accelera (evoluzione).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Due rischi AGIRE ORA per ragioni diverse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7" name="Picture 6" descr="_Scheda_NFR01_1_0_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70" y="1234440"/>
            <a:ext cx="4486459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_Scheda_NFR11_1_0_0_1_0.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110" y="1234440"/>
            <a:ext cx="4408883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57200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94760"/>
            <a:ext cx="548640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NFR-01 · il rischio è già 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5 (in corso presso la Banca)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0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Azioni a 3 mesi → X + Y = 0,25 + 0,25 = 0,50.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Margine −0,50: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con un KRI in rosso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Score 4,65: primo in classifica.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3794760"/>
            <a:ext cx="5486400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NFR-11 · la mitigazione è lunga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3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1,5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anni: c'è tempo prima che si manifesti.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 servono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3 anni di adeguamento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strutturale (sostituire sistemi fuori supporto) → Y =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X + Y = 3,25 &gt; 1,5: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anche con score 2,80, undicesimo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È il caso per cui Mosca ha scritto la disuguaglianza.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report trimestrale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Il registro Excel NFR_Registro.xlsx: dal Quadro d'insieme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al significato di ogni foglio e di ogni dato.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registro: un solo file, quattro gruppi di fogli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926080" cy="65836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274320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Guida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come si usa il workbook, chi aggiorna cosa, dove si scrive a mano, regole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371600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371600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Guida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48255"/>
            <a:ext cx="2926080" cy="104241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48255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Report al comitato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le pagine del PDF per il comitato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Quadro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4648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1224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Classifica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48856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Radar_Mosca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3064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Matrice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77272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8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Delta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Fenomeni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4648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1224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Metodologia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00399"/>
            <a:ext cx="2926080" cy="104241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200399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Lavoro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viste per l'analista e il validatore; l'unico foglio da compilare è Validazione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Registro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1224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8856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85432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Indicatori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3064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Notizie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77272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Piano_azioni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7016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Osservazione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8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1224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Validazione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48856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85432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Parametri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13064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Dizionario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352544"/>
            <a:ext cx="2926080" cy="1042415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352544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Dati (li scrive solo lo script)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la storia, una riga per soggetto per ciclo o per notizia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20440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57016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RiskRegister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21224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Azioni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48856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85432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KRI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13064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NewsLog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77272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13848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Sintesi_Cicli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20440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Sintesi_Settimane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84648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21224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Storico_Validazioni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550407"/>
            <a:ext cx="11247120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Fascia blu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cima a ogni foglio: ciclo, data dei dati, «validato» o «da validare».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Riga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chi aggiorna il foglio (azzurro trimestrale, verde settimanale, giallo validatore, grigio calcolo), che cosa contiene, come si legge.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Celle 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input a mano; tutto il resto è scritto dallo script o è una formula. In fondo ai fogli del report, la legenda.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report al comitato: che cos'è e come si usa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12064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12064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497433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cos'è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4937759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PDF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che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produce dal registro validato: Report_comitato_&lt;ciclo&gt;.pdf.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fa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dopo la 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con righe da validare il comando si ferma.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rigenera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quando il validatore cambia a mano presidio, anni di adeguamento, supervisore o stato di un'azione (la versione prima resta, con la data nel nome).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--con-lavoro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aggiunge Registro e Parametri.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accompagna con il file delle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Come si legge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Dal generale al particolare: priorità e stato (Quadro) → grandezza e urgenza (Classifica, Radar, Matrice) → cambiamenti (Delta) → rischi fuori dal radar (Fenomeni) → metodo (Metodologia).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06440" y="1280160"/>
          <a:ext cx="5925311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172"/>
                <a:gridCol w="410213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Pagina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domanda a cui risponde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Quadro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Il ciclo è completo e validato? Quali sono le priorità e perché?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Classifica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sono più grandi, e chi è in ritardo?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Radar_Mosca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bisogna agire, rischio per rischio?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Matrice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è grave ogni rischio (Probabilità × Impatto)?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Delta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è cambiato dal ciclo prima, e su quale evidenza?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Fenomeni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teniamo d'occhio fuori dal radar?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Metodologia (5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 quali scale, pesi e regole sono fatti i numeri?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Registro, Parametri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(con --con-lavoro) il dettaglio e i parametri in vigore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(1/3): i cinque riquadri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pic>
        <p:nvPicPr>
          <p:cNvPr id="7" name="Picture 6" descr="Quadro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504098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prima pagina per il comitato.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Prima di leggere i numeri: sono definitivi?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Rischi valutati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13 su 13 in anagrafica, «completo»: nessun rischio dimenticato.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attenzione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(sotto: quali in attivazione, quanti in monitoraggio): il carico di lavoro del comitato.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Variati · nuovi (radar)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hanno cambiato valore e quanti sono nuovi rispetto al ciclo prima; sotto, entrati e usciti dal radar e quanti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KRI in rosso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su quanti in vigore: i segnali misurati, non stimati.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✓ ciclo validato, oppure quante righe restano: se non è validato, i numeri non valgono.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Colori: rosso = qualcosa chiede attenzione, verde = a posto.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(2/3): priorità, gravità, urgenza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pic>
        <p:nvPicPr>
          <p:cNvPr id="7" name="Picture 6" descr="_Quadro_1_0_0.27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368014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Priorità — primi cinque per score composito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posizione, rischio (◆ supervisore), score con la barra su scala fissa 0-5, variazione (▲ ▼ ●) e urgenza colorata.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Gravità: Probabilità × Impatto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matrice in piccolo, con i numeri dei rischi (01 = NFR-01) nelle celle verdi, ambra, rosse.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(cella gialla): testo libero, per esempio la sintesi di A7; al ciclo dopo va in Sintesi_Cicli.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Urgenza: radar di Mosca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lo stesso grafico del foglio Radar_Mosca, in piccolo.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 rischi del ciclo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legenda dei codici, con ◆.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in un colpo d'occhio, i rischi più grandi (priorità), i più gravi (matrice) e i più urgenti (radar) — tre misure diverse che non sempre coincidono.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(3/3): il commento di A1 e i rischi segnalati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pic>
        <p:nvPicPr>
          <p:cNvPr id="7" name="Picture 6" descr="Quadro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221009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Il commento dell'analisi (A1)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Messaggio chiave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Decisioni richieste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commento per il comitato, scritto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sintesi di A5 o «A5 non usato», con le osservazioni.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Dopo il commento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compilata se il validatore ha rettificato qualcosa dopo — valgono i numeri validati.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quante ⚑ sono andate in validazione.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segnalati e perché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Chi: i primi tre per score, quelli in attivazione o attenzione, i variati o nuovi.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lo segnaliamo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(calcolato: posizione, AGIRE ORA con X + Y e Z, supervisore, presidio, KRI rossi, notizie)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Cosa è cambiato, e su quale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limiti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valutazione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legenda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Classifica e lente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pic>
        <p:nvPicPr>
          <p:cNvPr id="7" name="Picture 6" descr="Classi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96920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360920" y="1188720"/>
            <a:ext cx="4370831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Tabella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Pos., ID, Nome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del ciclo 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Δ 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(Nuovo, Variato, Confermato);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colorata;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sinistra: la classifica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barra per rischio, dal più alto per score; colore = urgenza (rosso agire ora, ambra entro l'anno, grigio c'è margine); freccia = variazione.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destra: la lente di Mosca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Dal più in ritardo: la colonna è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necessario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(grigio X, arancio Y entro Z, rosso Y oltre Z), il rombo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disponibile Z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classifica dice la grandezza, la lente spiega il colore — perché un rischio piccolo può essere urgente (NFR-11).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quanto presto agire, e quanto è grande ogni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35</a:t>
            </a:r>
          </a:p>
        </p:txBody>
      </p:sp>
      <p:pic>
        <p:nvPicPr>
          <p:cNvPr id="7" name="Picture 6" descr="_Radar_Mosca_0_0.47_0.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39729" cy="51663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Distanza dal centro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di Mosca + 2 (fra 0,6 e 6):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più vicino al centro = agire prima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Cerchio rosso «Mosca»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0: dentro, X + Y &gt; Z, si è già in ritardo anche se l'evento non è imminente.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 grigi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1, 2 e 3 anni di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Area del cerchio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Probabilità × Impatto (la grandezza).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livello di allerta: rosso Attivazione, giallo Attenzione, verde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Settore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categoria della tassonomia interna (nove spicchi); rischi dello stesso settore a distanze angolari uguali.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unisce in un'immagine urgenza (posizione), grandezza (area) e decisione (colore). Nessun agente stima l'urgenza: la calcola il foglio.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la tabella sotto il grafico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36</a:t>
            </a:r>
          </a:p>
        </p:txBody>
      </p:sp>
      <p:pic>
        <p:nvPicPr>
          <p:cNvPr id="7" name="Picture 6" descr="_Radar_Mosca_0_0.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32991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69480" y="1234440"/>
          <a:ext cx="4462271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402"/>
                <a:gridCol w="254986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Colonne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Impatto, Probabilità, P×I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la grandezza (area)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 → Z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si manifesti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(0,25)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mitigare: azioni o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Margine, Urgenza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Y): AGIRE ORA, entro l'anno, margine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Settore, angolo, raggio, x, 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geometria del grafico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F1-F3, A1-A3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segnali forti e aggravanti (1 = sì)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Livello, Motivo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 e perché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434840"/>
          <a:ext cx="11274550" cy="15173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45"/>
                <a:gridCol w="6966389"/>
                <a:gridCol w="2933216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 (calcolato dal foglio)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almeno 2 segnali forti: F1 AGIRE ORA, F2 un KRI in rosso, F3 notizie in peggioramento oltre la soglia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 d'azione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un aggravante: A1 P×I ≥ 12, A2 presidio assente, A3 metà dei KRI in ambra o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 entro il ciclo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Matrice di gravità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37</a:t>
            </a:r>
          </a:p>
        </p:txBody>
      </p:sp>
      <p:pic>
        <p:nvPicPr>
          <p:cNvPr id="7" name="Picture 6" descr="Mat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433427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1188720"/>
            <a:ext cx="61081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rischio nella cella della sua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Probabilità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(righe, da Remota a Quasi certa) e del suo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Impatto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(colonne, da Limitato a Critico).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 × I: verde fino a 6, ambra da 8 a 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Sotto: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 rischi dal più grave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P · I e il prodotto P × 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Dice la </a:t>
            </a:r>
            <a:r>
              <a:rPr sz="1050" b="1" i="1">
                <a:solidFill>
                  <a:srgbClr val="595959"/>
                </a:solidFill>
                <a:latin typeface="Calibri"/>
              </a:rPr>
              <a:t>gravità</a:t>
            </a:r>
            <a:r>
              <a:rPr sz="1050" b="0" i="1">
                <a:solidFill>
                  <a:srgbClr val="595959"/>
                </a:solidFill>
                <a:latin typeface="Calibri"/>
              </a:rPr>
              <a:t>, non l'urgenza: un rischio grave ma lontano sta in alto a destra nella matrice e lontano dal centro nel radar.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linguaggio più familiare al comitato, quello delle matrici di rischio operativo.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Delta: che cosa è cambiato dal ciclo precedente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38</a:t>
            </a:r>
          </a:p>
        </p:txBody>
      </p:sp>
      <p:pic>
        <p:nvPicPr>
          <p:cNvPr id="7" name="Picture 6" descr="Delt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69039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Delt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6317082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Una barra per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dalla variazione più alta dello score: rosso in aumento, blu in diminuzione, grigio invariato.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varia (o no)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nello stesso ordine: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motivo con l'evidenza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sua data, oppure «Invariato: nessuna evidenza nuova».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Quanto vale un punto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ogni dimensione sullo score (con e senza Velocity).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Dettaglio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Δ Impatto, Probabilità, Prossimità, Velocity e Δ score;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segnala una violazione della regola del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Evidenziate le variazioni di score oltre la soglia del Delta (0,30).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che ogni cambiamento ha un'evidenza datata.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Fenomeni: i rischi in osservazione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39</a:t>
            </a:r>
          </a:p>
        </p:txBody>
      </p:sp>
      <p:pic>
        <p:nvPicPr>
          <p:cNvPr id="7" name="Picture 6" descr="Fenome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027" y="1234440"/>
            <a:ext cx="7088897" cy="30175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 la capienza)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20), entrati e usciti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rischio fuori dal radar, dal più alto per score: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quattro dimensioni,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quale soglia manca (Prossimità o Probabilità sotto 2) o la capienza.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(la Prossimità non distingue oltre i 3 anni).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Segnale che lo porterebbe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fatto osservabile da tenere d'occhio.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collegate nelle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chi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entrato o uscito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 radar nel ciclo.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anche ciò che non è ancora urgente, e che cosa lo farebbe diventare tale (es. il calcolo quantistico).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Metodologia: come si leggono i numeri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40</a:t>
            </a:r>
          </a:p>
        </p:txBody>
      </p:sp>
      <p:pic>
        <p:nvPicPr>
          <p:cNvPr id="7" name="Picture 6" descr="Metodologi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223760" cy="414998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909560" y="1188720"/>
            <a:ext cx="38404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Cinque pagine, sempre allineate ai parametri in vigore (le legge dal foglio Parametri):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Chi produce i numeri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agenti, script, validatore.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Fonti di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loro rilevanza.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Analisi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con i descrittori.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formula e pesi.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Regole di variazione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fra 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(Mosca)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Come si leggono i grafici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risponde alla domanda «con quale metodo?» senza aprire altri documenti.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Registro: il ciclo corrente, un rischio per riga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41</a:t>
            </a:r>
          </a:p>
        </p:txBody>
      </p:sp>
      <p:pic>
        <p:nvPicPr>
          <p:cNvPr id="7" name="Picture 6" descr="Regi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74499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Righe 4-5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righe da validare e rettifiche applicate → «Ciclo validato»; rischi in anagrafica contro valutati → «Ciclo completo». Prima di tutto: se non dice così, i numeri non sono definitivi.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ID (fondo = livello di allerta), nome, categoria.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Dimensioni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Imp, Prob, Pross, Vel (n.v. = non valutata).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Calcolati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score, Δ ciclo prima, Δ 6 mesi, urgenza,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supervisore;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 · A · V del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notizie (4 settimane, ▲ ▼ oltre la soglia): un allarme, non cambia 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Banca;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Rilievi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A5 e dei controlli (⚑);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tabella di lavoro dell'analista.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Storico: lo score negli ultimi otto cicli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42</a:t>
            </a:r>
          </a:p>
        </p:txBody>
      </p:sp>
      <p:pic>
        <p:nvPicPr>
          <p:cNvPr id="7" name="Picture 6" descr="f_Sto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67" y="1234440"/>
            <a:ext cx="7214016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rischio, una colonna per ciclo (straordinari compresi), dal più vecchio.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#N/A = rischio non valutato in quel ciclo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non score zero.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 cicli passati sono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ricalcolati con i pesi in vigore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cambiando i pesi,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grafico ha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scala fissa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0-5: cicli diversi si confrontano a colpo d'occhio.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vedere da quanto tempo un rischio cresce, e se la crescita è continua o a salti.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Indicatori: i KRI del ciclo e la storia di un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43</a:t>
            </a:r>
          </a:p>
        </p:txBody>
      </p:sp>
      <p:pic>
        <p:nvPicPr>
          <p:cNvPr id="7" name="Picture 6" descr="f_Indicato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605" y="1234440"/>
            <a:ext cx="877174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quanti KRI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Verde, Ambra, Rosso, Non rilevato, Soglie da definire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Tabella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in vigore: ID, rischio, nome, unità, soglie,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data di rilevazione,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valore del ciclo prima,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tendenza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(▲ peggiora),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/ Evoluzione).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la storia di un KRI, da scegliere nella cella gialla N4 (anche uno uscito di vigore).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Stato: Verde sotto la soglia di attenzione, Ambra fino all'allerta, Rosso oltre; Non rilevato senza valore (mai zero).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sono le misure, non le stime: un KRI in rosso è un segnale forte del livello di allerta.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la pressione sulle categorie di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44</a:t>
            </a:r>
          </a:p>
        </p:txBody>
      </p:sp>
      <p:pic>
        <p:nvPicPr>
          <p:cNvPr id="7" name="Picture 6" descr="f_Notiz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9944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ognuna delle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sulle ultime 4 settimane: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massima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(0-3), notizie con intensità ≥ 2, rischi in anagrafica,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notizie di intensità ≥ 2 su una categoria senza rischi nel registro: tema per il prossimo trimestre.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Grafico: notizie per intensità 1, 2,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destra: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in rosso l'eventuale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foglio del ciclo settimanale. Le notizie non cambiano score.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Piano delle 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45</a:t>
            </a:r>
          </a:p>
        </p:txBody>
      </p:sp>
      <p:pic>
        <p:nvPicPr>
          <p:cNvPr id="7" name="Picture 6" descr="f_Piano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8242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Tutte le azioni: prima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proposte da decidere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poi approvate, in corso, completate.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proposta (A1)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ciclo, rischio, ID azione (&lt;ciclo&gt;-NFR-nn-An), azione, owner, orizzonte.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decisione e l'avanzamento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stato, data della decisione,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decisione + orizzonte, esito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validazione è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delibera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Accettato o Rettificato = Approvata, Respinto = Respinta. In corso e Completata le scrive a mano chi tiene il piano (foglio Azioni, colonna Stato).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azioni aperte tornano ad A1 nel trimestre dopo.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registro degli impegni e delle scadenze; l'orizzonte più lungo è la Y di Mosca.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Osservazione: dove si concentrano i rischi fuori dal radar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46</a:t>
            </a:r>
          </a:p>
        </p:txBody>
      </p:sp>
      <p:pic>
        <p:nvPicPr>
          <p:cNvPr id="7" name="Picture 6" descr="f_Osserv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4552" cy="269666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sinistra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rischi in osservazione con dimensioni, score,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orizzonte,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avvicinamento,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meccanismo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validazione,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incrocio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driver × 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 in osservazione e, accanto, dei rischi del radar.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casella piena nei rischi in osservazione e vuota nel radar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 tema che il radar non gestisce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lavoro dell'analista sui rischi lontani; per il comitato la stessa informazione è nella pagina Fenomeni.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(1/2): la griglia, una riga per oggetto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47</a:t>
            </a:r>
          </a:p>
        </p:txBody>
      </p:sp>
      <p:pic>
        <p:nvPicPr>
          <p:cNvPr id="7" name="Picture 6" descr="Validazione_Q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89800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unico foglio da compilare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 Ci sono solo i periodi ancora da validare.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(nel radar o in osservazione),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valore proposto dall'agente (accanto, in grigio, la proposta): se d'accordo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non si toccano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(= Accettato).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 non d'accordo: si scrive il valore giusto (la cella diventa arancio) e il perché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(almeno 10 caratteri).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Respingi = Sì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toglie un KRI, un'azione o una notizia (un rischio non si respinge).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dei 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⚑ = Motivazione obbligatoria anche senza cambiare nulla.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di Mosca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si ricalcolano mentre si 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Automatico, Radar o Osservazione.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(2/2): KRI, azioni e criteri per decidere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48</a:t>
            </a:r>
          </a:p>
        </p:txBody>
      </p:sp>
      <p:pic>
        <p:nvPicPr>
          <p:cNvPr id="7" name="Picture 6" descr="Validazione_Q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9456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1234440"/>
          <a:ext cx="4279391" cy="2496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559"/>
                <a:gridCol w="327783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Si cambia / si respinge se…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il valore non corrisponde al descrittore; intero 1-5, al massimo un punto, con evidenza; anni di adeguamento 0-30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fonte dati non identificabile o non misura il rischio; soglie (entrambe, allerta ≥ attenzione) o valore errato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duplicata o non pertinente; owner = una funzione, mai una persona; orizzonte 3, 6 o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140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rischio o segnale sbagliati; non pertinente o già contata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3868165"/>
            <a:ext cx="4279392" cy="248691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Poi, a file chiuso: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&lt;ciclo&gt; --validatore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 Controlla tutte le righe prima di applicarne una; le righe escono dal foglio e il dettaglio resta in Storico_Validazioni. Per cambiare un ciclo già validato: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riapri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Guida e Dizionario: il manuale dentro il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49</a:t>
            </a:r>
          </a:p>
        </p:txBody>
      </p:sp>
      <p:pic>
        <p:nvPicPr>
          <p:cNvPr id="7" name="Picture 6" descr="f_Gu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335349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Dizio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86400" cy="3381116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Guida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 cosa serve il registro,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chi aggiorna cosa e quando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(foglio per foglio), quando si lanciano A5 e A6,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dove si scrive a mano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regole, il primo 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Dizionario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workbook — dove sta, chi lo scrive e quando, che cosa significa, come si calcola, valori ammessi, un esempio. Viene dalla mappa dei campi: sempre quello in uso.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RiskRegister: tutte le valutazioni, per sempre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50</a:t>
            </a:r>
          </a:p>
        </p:txBody>
      </p:sp>
      <p:pic>
        <p:nvPicPr>
          <p:cNvPr id="7" name="Picture 6" descr="f_Risk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140" y="1234440"/>
            <a:ext cx="880067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rischio per ciclo, solo in aggiunta, con 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valori validati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Identità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ciclo, data di riferimento, ID, nome, categoria, driver, owner.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Valutazione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Impatto, Probabilità, Prossimità, Velocity, score composito (formula), anni di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Perché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descrizione (meccanismo), razionale in parti, variazioni da → a con evidenza, fonti con rilevanza.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Controlli e decisioni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esito, rilievi (⚑), validazione, approvato da,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stato (Radar, Radar in uscita, Osservazione, Dismesso), motivo, movimento (Entrato/Uscito), decisione sullo stato, orizzonte, segnale.</a:t>
            </a:r>
          </a:p>
          <a:p>
            <a:pPr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Calibri"/>
              </a:rPr>
              <a:t>Importanza: è la fonte di ogni vista e della baseline del ciclo dopo.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Azioni, KRI, NewsLog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51</a:t>
            </a:r>
          </a:p>
        </p:txBody>
      </p:sp>
      <p:pic>
        <p:nvPicPr>
          <p:cNvPr id="7" name="Picture 6" descr="f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600" cy="209764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K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37424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News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600" cy="118739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azione: ciclo, rischio,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descrizione, owner, orizzonte (mesi → Y di Mosca), razionale con EFFETTO,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data e autore della decisione, validazione.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KRI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KRI_ID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stabile, rischio, nome,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unità, fonte dati,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soglie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(vuoto se non rilevato, mai ricopiato), stato,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 vigore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ciclo di nascita.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NewsLog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notizia: data, settimana,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titolo, fonte e codice,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(o NON PRESIDIATO),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intensità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Imp_9_x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sulle nove categorie, sintesi, validazione.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Sintesi_Cicli, Sintesi_Settimane, Storico_Validazioni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52</a:t>
            </a:r>
          </a:p>
        </p:txBody>
      </p:sp>
      <p:pic>
        <p:nvPicPr>
          <p:cNvPr id="7" name="Picture 6" descr="f_Sintesi_Ci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599" cy="11532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Sintesi_Settim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27211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Storico_Validazio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599" cy="21878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Sintesi_Cicli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commento di A1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(MESSAGGIO / DECISIONI),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A5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osservazioni e rilievi del ciclo, segnalazioni da motivare,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archiviate, dati dello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(chi, quando, perché).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Sintesi_Settimane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settimana: notizie valutate,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di 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(rischio, direzione, motivazione). Un flag non cambia score: va al trimestre.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Storico_Validazioni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oggetto e campo: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dell'agente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decisione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(Accettato, Rettificato, Respinto),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 validato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chi e quando. È l'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audit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la base per migliorare gli agenti.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Gerarchia di rischio, scale, pesi, soglie e valori ammessi: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vale oggi e chi lo decide.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Dove vivono i parametri e chi li decide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54</a:t>
            </a:r>
          </a:p>
        </p:txBody>
      </p:sp>
      <p:pic>
        <p:nvPicPr>
          <p:cNvPr id="7" name="Picture 6" descr="Parametr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83680" cy="381853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269480" y="1188720"/>
            <a:ext cx="44805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Foglio Parametri (celle gialle)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Pesi dello score, soglie, parametri dell'urgenza e del livello di allerta, regola del radar: li decide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li registra in DECISIONI.md. Valgono per tutti i cicli, passati compresi.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Anagrafica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rischi: owner, anni di adeguamento, attenzione del supervisore, presidio dei controlli: le decide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validatore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 e settimana correnti e periodi del trend li scrive lo script.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File del kernel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Tassonomia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(categorie e driver),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rubrica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(scale e regole),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(catalogo): entrano nei prompt degli agenti.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 descrittori sono segnaposto verosimili: la Banca li riscrive nel proprio linguaggio; i pesi sono provvisori (D-20).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La gerarchia: dalla famiglia di rischio al singolo indicatore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Famiglia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280160"/>
            <a:ext cx="537667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Rischi Non Finanziari – Rischi Operativi (tassonomia interna della Banca)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14883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4883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Categoria (9 in perimetro)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48839"/>
            <a:ext cx="496519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dove ricade la perdita: 9.1 … 9.13 · è il settore del radar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0" y="301752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418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01752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Rischio NFR-nn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017520"/>
            <a:ext cx="45537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meccanismo di perdita, una sola categoria, uno o più driver · nel radar o in osservazione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40" y="388620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88620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KRI e azioni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886200"/>
            <a:ext cx="414223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KRI (NFR-nn-K1, K2: esposizione ed evoluzione) · 1-5 azioni (&lt;ciclo&gt;-NFR-nn-An)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75487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39" y="475487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Fonti ed evidenze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4754879"/>
            <a:ext cx="37307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documenti con data, tipo e rilevanza 1-3 · notizie collegate (N-AAAAMMGG-nn)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280160"/>
            <a:ext cx="2999232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32520" y="1280160"/>
            <a:ext cx="2999232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1298448"/>
            <a:ext cx="2852927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Trasversali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682495"/>
            <a:ext cx="2816351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 emergenti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(8): perché il rischio è emergente oggi; un rischio ne ha uno o più.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che risponde del rischio e delle 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 nel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Radar, Radar in uscita, Osservazione, Dismesso.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Regola di classificazione: un rischio ha UNA categoria e uno o più driver. Se sembra avere due categorie sono due rischi; anche due meccanismi di perdita diversi nella stessa categoria sono due rischi.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Tassonomia: le nove categorie in perimetro e gli otto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2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554480"/>
                <a:gridCol w="3566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Perdite da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comportamenti non corretti verso clienti o mercati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Legale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leggi, responsabilità contrattuale, controversie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Fiscale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norme tributarie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Tecnologico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e servizi ICT inadeguati o non sostituibili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informatica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dati e sistemi violati o indisponibili, attacchi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fisica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su persone, sedi, beni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ricorso a fornitori di beni o servizi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rapporti di lavoro, salute e sicurezza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Processo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errori di processo o di esecuzione delle operazioni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246"/>
                <a:gridCol w="1457995"/>
                <a:gridCol w="291599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Esempi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DRV-CYB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Cyber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nuove tecniche d'attacco, vulnerabilità diffuse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DRV-TPR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fornitori ICT critici, concentrazione cloud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Intelligenza artificiale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uso interno di modelli, attacchi abilitati da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Clima e ambiente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estremi, transizione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pratiche commerciali, greenwashing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DRV-GEO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Geopolitica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sanzioni, conflitti, catene di fornitura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DRV-TEC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Debito tecnologico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obsoleti, migrazioni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DRV-HUM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Capitale umano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carenza di competenze, turnover in ruoli chiave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Fuori perimetro: rischi finanziari, strategici, reputazionali e di modello; frode, financial crime, non conformità, qualità dei dati; eventi già accaduti; temi senza un meccanismo di perdita per la Banca. Una categoria senza rischi resta visibile: le notizie che la toccano escono come AREA NON PRESIDIATA.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Impatto e Probabilità (interi 1-5, 5 = peggiore)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Impatto — danno se il rischio si manifesta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Limitato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nessun cliente toccato, perdita entro 100.000 euro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Contenuto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alcuni clienti coinvolti o un processo non critico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Rilevante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processo critico degradato o clientela ampia; segnalazione all'autorità possibile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Grave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interruzione di una funzione essenziale, sanzione probabile, danno reputazionale nazionale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Critico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effetto sulla continuità, sui prodotti o sulla solvibilità; intervento dell'autorità certo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Probabilità — plausibilità per la Banca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Remota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solo teorica, nessun caso noto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Improbabile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solo in altri settori o paesi, o Banca poco esposta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Possibile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in altri settori anche non finanziari; Banca esposta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ripetuti in aziende strutturate o banche, o crescita documentata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Quasi certa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già osservato presso istituzioni finanziarie o la loro filiera, o rapida accelerazione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3250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 sceglie il descrittore più aderente all'evidenza, senza interpolare. Probabilità 4-5 solo se la Banca è esposta (ha il prodotto, il processo o il fornitore colpito). Probabilità dice QUANTO è plausibile; Prossimità dice QUANDO. Probabilità × Impatto è la magnitudo (area nel radar, cella della matrice).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Prossimità (con la Z di Mosca) e Velocity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4241291"/>
                <a:gridCol w="9220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Prossimità — quando può manifestarsi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Z (anni)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3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2 a 3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2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 corso o imminente presso la Banca, la sua filiera o aziende ampie e complesse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Velocity — tempo fra innesco e pieno impatto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6 a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3 a 6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3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 mese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Prossimità 4-5 solo con casi documentati (banca comparabile, fornitore, quasi-incidente) o un evento certo; deroga dichiarata per fenomeni ad altissimo impatto.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= metà della fascia (per «oltre 3 anni», 3,5): è il tempo disponibile di Mosca.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Velocity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facoltativa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vuota (n.v.) se nessuna fonte ne documenta i tempi; da n.v. entra con qualunque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(0-30, facoltativi): durata di un adeguamento strutturale oltre le azioni; li stima A1, li decide il validatore; sono 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Y minima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di Mosca. Non entrano nello score.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Score composito: pesi e calcolo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Senza Velocity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Impatto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0,4375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Probabilità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0,3125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Velocity (solo se valutata)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Somma (controllata)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234440"/>
            <a:ext cx="548640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La formula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Media pesata delle dimensioni valutate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divisa per la somma dei pesi presenti: senza Velocity i pesi si ridistribuiscono sulle altre 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decimali; vuoto se manca Impatto, Probabilità o Prossimità.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Esempio (NFR-01, 2026Q4-S1)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(0,35×4 + 0,25×5 + 0,20×5 + 0,20×5) / 1,00 =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4,65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Che cosa NON entra nello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Presidio dei controlli, anni di adeguamento, rilevanza delle fonti, attenzione del supervisore, segnali delle notizie.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Lo calcola il foglio, non un agente; cambiando i pesi si ricalcolano anche i cicli passati, così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4864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Soglie collegate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Soglia del Delta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0,30 — variazioni di score da guardare.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Matrice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 × I verde fino a 6, ambra 8-12,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Trend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ultimi 8 cicli, scala fissa.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Fonti: rilevanza, catalogo e regole di variazione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222"/>
                <a:gridCol w="451789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Rilevanza di una fonte per la previsione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 Bassa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stampa generalista, opinioni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 Media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fonte specializzata con dati o casi (report di settore, threat intelligence)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regolatore o autorità, consorzio di dati (es. ORX); caso documentato presso la Banca, una banca comparabile o un fornitore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66744"/>
            <a:ext cx="5532120" cy="2688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Stesso ente 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fonte. Tipo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Interna / Esterna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(dalla cartella).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Probabilità 5 o Prossimità 4-5: almeno una fonte di rilevanza 3 (salvo deroga).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Catalogo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(fonti.md): 36 fonti FNT-nn, 31 approvate, 1 esclusa; canali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rss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(19, raccolta automatica),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(6, letti dall'agente),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share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(7, documenti interni e a licenza);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MAN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per un file portato a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19" cy="283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Regole di variazione fra cicli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Senza evidenza nuova il valore resta quello del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un punto per dimensione fra due cicli consecutivi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valore cambiato cita un'evidenza specifica, datata dopo il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Una riduzione ha lo stesso onere di un aumento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Confermare = riprendere le fonti; se non valgono più, il valore va rivisto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copertura mediatica non è 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 numero nel razionale cita la sua fonte o è dichiarato come stima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4205732"/>
            <a:ext cx="5532120" cy="21493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(lo calcola lo script):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Nuovo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l'ID non c'era,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Variato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cambia una dimensione (anche da n.v.), altrimenti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Confermato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KRI: due per rischio, con soglie della Banca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705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Quanti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esattamente due per rischio del radar: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Esposizione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la Banca è esposta, di solito dato interno) e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Evoluzione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cresce il fenomeno)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Verso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valore crescente = peggio (altrimenti si usa il complemento)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Soglie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attenzione e allerta, entrambe o nessuna, allerta ≥ attenzione; solo se una fonte le sostiene, altrimenti le fissa il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rilevato nel ciclo; vuoto se non rilevato, mai ricopiato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 stabile, mai riusato; In_Vigore = No chiude la serie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37947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valore sotto la soglia di attenzione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Ambra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attenzione fino all'allerta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Rosso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allerta in su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Non rilevato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valore nel ciclo (mai zero)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da definire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manca una soglia: non conta nel semaforo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INVERTITE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allerta &lt; attenzione: va rettificato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6402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Un KRI in rosso è il segnale forte F2 del livello di allerta; metà o più dei KRI in ambra o rosso è l'aggravante A3. Tendenza: ▲ peggiora sul ciclo prima.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intensità, direzione, segnali e segnale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Intensità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 ciascuna delle nove categorie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nesso con la categoria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indiretto o solo teorico per la Banca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con un meccanismo di perdita presente nella Banca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e immediato: evento in corso su controparti, sistemi o prodotti che la Banca usa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368040"/>
            <a:ext cx="5532120" cy="2987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Direzione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solo quattro valori — Peggiorativo, Migliorativo, Neutro, Non rilevante (un sinonimo vale zero).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peggiorative − migliorative sullo stesso rischio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 settimane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soglia di direzione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→ ▲ ▼ e flag proposto, mai una variazione di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notizia ripresa da più testate è un solo segnale.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234440"/>
            <a:ext cx="55321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53212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252728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Segnale critico → proposta di ciclo straordinario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36776"/>
            <a:ext cx="53492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Solo se una notizia: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(a)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ha intensità 3 su un rischio con Impatto 4 o 5;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(b)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riporta un evento in corso presso la Banca, un suo fornitore o una controparte;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(c)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mostra una capacità nuova di una minaccia che rende superato il descrittore vigente.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Propongono A3 o A4;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decide la 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4114800"/>
            <a:ext cx="5532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4114800"/>
            <a:ext cx="553212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4133087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Presidio delle categorie (foglio Notizie)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4517136"/>
            <a:ext cx="534924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notizie di intensità ≥ 2 su una categoria senza rischi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almeno un rischio nel radar.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Urgenza: i parametri della disuguaglianza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852160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Termine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la mitigazione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0,25 (un trimestre)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completare la mitigazione: il maggiore fra l'orizzonte più lungo delle azioni del ciclo non respinte (3/6/12 mesi) e gli anni di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dalle azioni; 1 se non ce ne sono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il rischio possa manifestarsi: metà della fascia della 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5→0 · 4→0,5 · 3→1,5 · 2→2,5 · 1→3,5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37960" y="1234440"/>
          <a:ext cx="5193791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0144"/>
                <a:gridCol w="35536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sotto 0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Z): già in ritardo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da 0 a 1 anno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entro l'anno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oltre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Margine n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37960" y="3209544"/>
            <a:ext cx="5193792" cy="3145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Nel radar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Raggio = margine + 2, fra 0,6 e 6; angolo = settore della categoria; area = P × 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Cerchi: margine 0 (Mosca, rosso), 1, 2, 3 anni.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Origine: Michele Mosca (2015), per la migrazione alla crittografia post-quantistica. L'urgenza è una graduatoria ancorata, non una previsione.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39896"/>
            <a:ext cx="5852160" cy="2615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Cambiando le tabelle di Parametri cambia il radar, senza toccare nessun prompt.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anni di adeguamento validati vivono nell'anagrafica (colonna M) e restano correggibili a mano.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Livello di allerta: segnali forti, aggravanti e soglie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Segnali forti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un KRI in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delle notizie oltre la soglia (▲)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soglia 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63824"/>
          <a:ext cx="5532120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Aggravanti (contano solo con margine stretto)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Soglia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Probabilità × Impatto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 «Assente»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quota dei KRI in vigore in ambra o rosso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0,5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margine stretto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sotto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20" cy="2234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0574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 o più segnali forti (soglia 2)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piano; se nasce nel settimanale, proposta di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almeno un aggravante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KRI; il rischio va nel report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3651504"/>
            <a:ext cx="5532120" cy="27035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Il livello non è uno score: i segnali netti cambiano ogni settimana e con loro il livello. Il tema del supervisore non alza il livello (è evidenziato con ◆).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 unico: chi entra nel radar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39"/>
                <a:gridCol w="22402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15 (fino a 20)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Prossimità per entrare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(entro 3 anni)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Probabilità per entrare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(non solo teorico)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Cicli sotto la soglia prima di uscire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(un ciclo «Radar, in uscita»)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Rischi in osservazione al massimo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20 (fisso)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188720"/>
            <a:ext cx="553212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regola (la applica lo script a ogni ciclo e validazione)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Candidato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Prossimità ≥ 2 e Probabilità ≥ 2.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Sempre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sotto le soglie: un rischio AGIRE ORA, un tema del supervisore, un rischio che il validatore mette nel radar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Mai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 rischio che il validatore mette in osservazione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Oltre la capienza: prima le eccezioni, poi i più alti per score; gli altri restano «fuori per capienza».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 scende resta un ciclo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«Radar, in uscita»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chi sale entra subito, con KRI e azioni.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in osservazione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Stessa scala e stesso score;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niente KRI né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rivalutati solo con evidenza nuova; con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 di avvicinamento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06824"/>
            <a:ext cx="5532120" cy="204825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 · Radar, in uscita · Osservazione · Dismesso.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Movimento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Entrato · Uscito.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validatore: Automatico (vale la regola) · Radar · Osservazione.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Altri parametri e limiti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68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564"/>
                <a:gridCol w="4858140"/>
                <a:gridCol w="38498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Dove / 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Non verificato · Adeguato · Parziale · Assente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O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Sì · No (◆)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N ·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una funzione, mai una persona; «Da assegnare» per un rischio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L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Azioni per rischio · orizzonte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5 · 3, 6 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propone, il validatore delibera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Anni di adeguamento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0-30 o vuoto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stima, il validatore decide (colonna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Motivazione in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10 caratteri, con l'evidenza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obbligatoria se cambia un valore, se si respinge, con ⚑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Note dell'analista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600 caratteri (sintesi di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Quadro, cella gialla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Finestre temporali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e notizie: 4 settimane · grafici settimanali: 12 settimane · trend: 8 cicli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Parametri, scritte dallo script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dell'anagrafica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20 posti (Rischio_01..20 per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struttura del template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Istruzioni degli agenti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8.000 caratteri ciascuna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limite di Agent Builder, controllato da componi_prompt.py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Valori ammessi e codici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19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40233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Esito del 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Nuovo · Variato · Confermato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 validare · Accettato · Rettificato · Respinto (in riapertura: Invariato, … (riapertura))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Proposta · Approvata · Respinta · In corso · Completata · Annullata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 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Verde · Ambra · Rosso · Non rilevato · Soglie da definire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Tipo di KRI · di fonte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Esposizione · Evoluzione · Interna · Esterna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Segnale di una 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Peggiorativo · Migliorativo · Neutro · Non rilevante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 · Attenzione · Monitoraggio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· Agire entro l'anno ·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4743"/>
                <a:gridCol w="328048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trimestrale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 (2026Q3)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AAAAQn-Sk (2026Q4-S1)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il suo lunedì, AAAA-MM-GG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&lt;ciclo&gt;-NFR-nn-An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N-AAAAMMGG-nn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FNT-nn · MAN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9.x · DRV-xxx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CONCLUSIONE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 sintesi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64592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Gli agenti giudicano e scrivono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A1 e A8 valutano, A3 legge le notizie, A4 dà pareri, A5 controlla, A6 e A7 spiegano. Nessuno calcola né decide.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64592" cy="7772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Python controlla e scrive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791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comando per ogni passo; si ferma prima di sbagliare, mai dopo; tiene backup e archivio.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164592" cy="7772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Excel calcola e mostra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score, urgenza di Mosca, livello di allerta, stato dei KRI; report al comitato e viste di lavoro.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88536"/>
            <a:ext cx="164592" cy="777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61104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Le persone decidono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54296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validatore accetta, rettifica o respinge ogni proposta; la funzione di rischio fissa i parametri.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76088"/>
            <a:ext cx="164592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6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Ogni numero ha un perché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4184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nelle schede: valori validati, documenti, cambiamenti, azioni e KRI con l'effetto atteso.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